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3" r:id="rId24"/>
    <p:sldId id="291" r:id="rId25"/>
    <p:sldId id="285" r:id="rId26"/>
    <p:sldId id="286" r:id="rId27"/>
    <p:sldId id="287" r:id="rId28"/>
    <p:sldId id="28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1"/>
    <p:restoredTop sz="94630"/>
  </p:normalViewPr>
  <p:slideViewPr>
    <p:cSldViewPr snapToGrid="0" snapToObjects="1">
      <p:cViewPr>
        <p:scale>
          <a:sx n="104" d="100"/>
          <a:sy n="104" d="100"/>
        </p:scale>
        <p:origin x="1136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244649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44648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491E3B-38CE-D028-D12E-7A942F6850F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91692" y="6312665"/>
            <a:ext cx="1466137" cy="44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965960"/>
            <a:ext cx="1828800" cy="14630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1094415" cy="17373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0E2A47"/>
                </a:solidFill>
                <a:latin typeface="Times New Roman"/>
                <a:cs typeface="Times New Roman"/>
              </a:rPr>
              <a:t>Per-Token Adaptive Channel Activation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0E2A47"/>
                </a:solidFill>
                <a:latin typeface="Times New Roman"/>
                <a:cs typeface="Times New Roman"/>
              </a:rPr>
              <a:t>for Efficient MoE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C7293"/>
                </a:solidFill>
                <a:latin typeface="Times New Roman"/>
                <a:cs typeface="Times New Roman"/>
              </a:rPr>
              <a:t>Yequan Zhao</a:t>
            </a:r>
            <a:r>
              <a:rPr sz="2200" b="0" i="0">
                <a:solidFill>
                  <a:srgbClr val="5C6B7A"/>
                </a:solidFill>
                <a:latin typeface="Times New Roman"/>
                <a:cs typeface="Times New Roman"/>
              </a:rPr>
              <a:t>     |     Midpoint Review     |   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514600"/>
            <a:ext cx="1280160" cy="12801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852928"/>
            <a:ext cx="11094415" cy="1097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2A47"/>
                </a:solidFill>
                <a:latin typeface="Times New Roman"/>
                <a:cs typeface="Times New Roman"/>
              </a:rPr>
              <a:t>Background</a:t>
            </a:r>
          </a:p>
        </p:txBody>
      </p:sp>
      <p:pic>
        <p:nvPicPr>
          <p:cNvPr id="4" name="Picture 3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348139"/>
            <a:ext cx="10820095" cy="492443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>
                <a:latin typeface="Times New Roman"/>
                <a:cs typeface="Times New Roman"/>
              </a:rPr>
              <a:t>Mixture-of-Experts (MoE) and </a:t>
            </a: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Why </a:t>
            </a:r>
            <a:r>
              <a:rPr lang="en-US" sz="3000" b="1" i="0">
                <a:solidFill>
                  <a:srgbClr val="0E2A47"/>
                </a:solidFill>
                <a:latin typeface="Times New Roman"/>
                <a:cs typeface="Times New Roman"/>
              </a:rPr>
              <a:t>it</a:t>
            </a: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 Prevails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7741613" cy="2923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E0A32E"/>
              </a:buClr>
            </a:pPr>
            <a:r>
              <a:rPr lang="en-US" sz="2000" b="0" i="0">
                <a:latin typeface="Times New Roman"/>
                <a:cs typeface="Times New Roman"/>
              </a:rPr>
              <a:t>Mixture-of-Experts (MoE)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E0A32E"/>
              </a:buClr>
              <a:buFont typeface="Arial" panose="020B0604020202020204" pitchFamily="34" charset="0"/>
              <a:buChar char="•"/>
            </a:pPr>
            <a:r>
              <a:rPr sz="2000" b="0" i="0">
                <a:latin typeface="Times New Roman"/>
                <a:cs typeface="Times New Roman"/>
              </a:rPr>
              <a:t>Total params: </a:t>
            </a:r>
            <a:r>
              <a:rPr sz="2000" b="1" i="0">
                <a:latin typeface="Times New Roman"/>
                <a:cs typeface="Times New Roman"/>
              </a:rPr>
              <a:t>30B</a:t>
            </a:r>
            <a:r>
              <a:rPr sz="2000" b="0" i="0">
                <a:latin typeface="Times New Roman"/>
                <a:cs typeface="Times New Roman"/>
              </a:rPr>
              <a:t>;  active per token: </a:t>
            </a:r>
            <a:r>
              <a:rPr sz="2000" b="1" i="0">
                <a:latin typeface="Times New Roman"/>
                <a:cs typeface="Times New Roman"/>
              </a:rPr>
              <a:t>~3B</a:t>
            </a:r>
            <a:r>
              <a:rPr sz="2000" b="0" i="0">
                <a:latin typeface="Times New Roman"/>
                <a:cs typeface="Times New Roman"/>
              </a:rPr>
              <a:t>  (only K=8 of 128 experts </a:t>
            </a:r>
            <a:r>
              <a:rPr lang="en-US" sz="2000" b="0" i="0">
                <a:latin typeface="Times New Roman"/>
                <a:cs typeface="Times New Roman"/>
              </a:rPr>
              <a:t>are activated per token</a:t>
            </a:r>
            <a:r>
              <a:rPr sz="2000" b="0" i="0">
                <a:latin typeface="Times New Roman"/>
                <a:cs typeface="Times New Roman"/>
              </a:rPr>
              <a:t>)</a:t>
            </a:r>
            <a:endParaRPr lang="en-US" sz="2000" b="0" i="0">
              <a:latin typeface="Times New Roman"/>
              <a:cs typeface="Times New Roman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E0A32E"/>
              </a:buClr>
              <a:buFont typeface="Arial" panose="020B0604020202020204" pitchFamily="34" charset="0"/>
              <a:buChar char="•"/>
            </a:pPr>
            <a:r>
              <a:rPr lang="en-US" sz="2000" b="1" i="0">
                <a:latin typeface="Times New Roman"/>
                <a:cs typeface="Times New Roman"/>
              </a:rPr>
              <a:t>Outperforms</a:t>
            </a:r>
            <a:r>
              <a:rPr sz="2000" b="1" i="0">
                <a:latin typeface="Times New Roman"/>
                <a:cs typeface="Times New Roman"/>
              </a:rPr>
              <a:t> dense models at equal FLOP budget</a:t>
            </a:r>
            <a:endParaRPr lang="en-US" sz="2000" b="1" i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E0A32E"/>
              </a:buClr>
            </a:pPr>
            <a:r>
              <a:rPr lang="en-US" sz="2000" b="1" i="0">
                <a:latin typeface="Times New Roman"/>
                <a:cs typeface="Times New Roman"/>
              </a:rPr>
              <a:t>Edge deployment challenge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E0A32E"/>
              </a:buClr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cs typeface="Times New Roman"/>
              </a:rPr>
              <a:t>Large model size -&gt; Need parameter offload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E0A32E"/>
              </a:buClr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cs typeface="Times New Roman"/>
              </a:rPr>
              <a:t>Decode is memory-bounded: Latency ∝ bytes loaded per token.</a:t>
            </a:r>
          </a:p>
        </p:txBody>
      </p:sp>
      <p:pic>
        <p:nvPicPr>
          <p:cNvPr id="13" name="Picture 12" descr="A Visual Guide to Mixture of Experts (MoE)">
            <a:extLst>
              <a:ext uri="{FF2B5EF4-FFF2-40B4-BE49-F238E27FC236}">
                <a16:creationId xmlns:a16="http://schemas.microsoft.com/office/drawing/2014/main" id="{03AEF538-D820-14AD-6E72-70369A1F6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962" y="1110567"/>
            <a:ext cx="33528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What Needs to Be Improved</a:t>
            </a:r>
          </a:p>
        </p:txBody>
      </p:sp>
      <p:pic>
        <p:nvPicPr>
          <p:cNvPr id="4" name="Picture 3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91672" cy="2331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Goal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Benefit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Target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Reduce total params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Fit in device DRAM; less memory for serving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Edge (L4, Cor3, phone) and cloud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Reduce active params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Fewer bytes loaded per token → lower latency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Single-batch decode (bandwidth-bound)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363527"/>
            <a:ext cx="10820095" cy="461665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3000" b="1">
                <a:solidFill>
                  <a:srgbClr val="0E2A47"/>
                </a:solidFill>
                <a:latin typeface="Times New Roman"/>
                <a:cs typeface="Times New Roman"/>
              </a:rPr>
              <a:t>Results</a:t>
            </a: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−50% expert-FFN active parameters → −1 MMLU pt, no training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559367"/>
              </p:ext>
            </p:extLst>
          </p:nvPr>
        </p:nvGraphicFramePr>
        <p:xfrm>
          <a:off x="548640" y="2121408"/>
          <a:ext cx="10307743" cy="2444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5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9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Configuration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up | gate | down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FFN cut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MMLU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HellaSwag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ARC-C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TruthfulQA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Avg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Dense baseline (K=8)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−0% | −0% | −0%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79.6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77.8</a:t>
                      </a:r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69.7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53.4</a:t>
                      </a:r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70.12</a:t>
                      </a:r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Dynamic −75%</a:t>
                      </a:r>
                      <a:r>
                        <a:rPr lang="en-US" sz="16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 (no train)</a:t>
                      </a:r>
                      <a:endParaRPr sz="1600" b="1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−0% | −75% | −75%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−50%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78.6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75.4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66.0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51.1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67.8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Dynamic −75% (after train)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−0% | −75% | −75%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(pending)</a:t>
                      </a:r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7171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Dynamic −87.5%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−0% | −87.5% | −87.5%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−58.3%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71.5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63.2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50.8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65.2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911847"/>
            <a:ext cx="11094415" cy="10515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Arial" panose="020B0604020202020204" pitchFamily="34" charset="0"/>
              <a:buChar char="•"/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up_proj</a:t>
            </a:r>
            <a:r>
              <a:rPr sz="2000" b="0" i="0">
                <a:solidFill>
                  <a:srgbClr val="222A33"/>
                </a:solidFill>
                <a:latin typeface="Times New Roman"/>
                <a:cs typeface="Times New Roman"/>
              </a:rPr>
              <a:t> scores channels per token via; only top-B channels of </a:t>
            </a:r>
            <a:r>
              <a:rPr sz="2000" b="1" i="0">
                <a:solidFill>
                  <a:srgbClr val="222A33"/>
                </a:solidFill>
                <a:latin typeface="Times New Roman"/>
                <a:cs typeface="Times New Roman"/>
              </a:rPr>
              <a:t>gate/down</a:t>
            </a:r>
            <a:r>
              <a:rPr sz="2000" b="0" i="0">
                <a:solidFill>
                  <a:srgbClr val="222A33"/>
                </a:solidFill>
                <a:latin typeface="Times New Roman"/>
                <a:cs typeface="Times New Roman"/>
              </a:rPr>
              <a:t> are activated</a:t>
            </a:r>
            <a:endParaRPr lang="en-US" sz="2000" b="0" i="0">
              <a:solidFill>
                <a:srgbClr val="222A33"/>
              </a:solidFill>
              <a:latin typeface="Times New Roman"/>
              <a:cs typeface="Times New Roman"/>
            </a:endParaRPr>
          </a:p>
          <a:p>
            <a:pPr marL="285750" indent="-285750">
              <a:spcAft>
                <a:spcPts val="500"/>
              </a:spcAft>
              <a:buClr>
                <a:srgbClr val="E0A32E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222A33"/>
                </a:solidFill>
                <a:latin typeface="Times New Roman"/>
                <a:cs typeface="Times New Roman"/>
              </a:rPr>
              <a:t>Edge efficiency: </a:t>
            </a:r>
            <a:r>
              <a:rPr lang="en-US" sz="2000" b="1">
                <a:solidFill>
                  <a:srgbClr val="0E2A47"/>
                </a:solidFill>
                <a:latin typeface="Times New Roman"/>
                <a:cs typeface="Times New Roman"/>
              </a:rPr>
              <a:t>2.14× decode speedup</a:t>
            </a:r>
            <a:r>
              <a:rPr lang="en-US" sz="2000">
                <a:solidFill>
                  <a:srgbClr val="222A33"/>
                </a:solidFill>
                <a:latin typeface="Times New Roman"/>
                <a:cs typeface="Times New Roman"/>
              </a:rPr>
              <a:t> on 30B-A3B model offloaded generation (single L4 GPU).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Times New Roman"/>
              <a:buChar char="▪"/>
            </a:pPr>
            <a:endParaRPr sz="2000" b="0" i="0">
              <a:solidFill>
                <a:srgbClr val="222A33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514600"/>
            <a:ext cx="1280160" cy="12801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852928"/>
            <a:ext cx="11094415" cy="1097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2A47"/>
                </a:solidFill>
                <a:latin typeface="Times New Roman"/>
                <a:cs typeface="Times New Roman"/>
              </a:rPr>
              <a:t>Motivation</a:t>
            </a:r>
          </a:p>
        </p:txBody>
      </p:sp>
      <p:pic>
        <p:nvPicPr>
          <p:cNvPr id="4" name="Picture 3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Channel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The effective expert unit is a single intermediate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11094415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A standard MoE FFN expert computes:</a:t>
            </a:r>
          </a:p>
        </p:txBody>
      </p:sp>
      <p:pic>
        <p:nvPicPr>
          <p:cNvPr id="10" name="Picture 9" descr="eq_channel_expe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46" y="2086663"/>
            <a:ext cx="4521941" cy="4919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2761488"/>
            <a:ext cx="11094415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The j-th </a:t>
            </a:r>
            <a:r>
              <a:rPr sz="1800" b="1" i="0">
                <a:solidFill>
                  <a:srgbClr val="0E2A47"/>
                </a:solidFill>
                <a:latin typeface="Times New Roman"/>
                <a:cs typeface="Times New Roman"/>
              </a:rPr>
              <a:t>channel expert</a:t>
            </a: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 of expert e is the rank-1 computation path:</a:t>
            </a:r>
          </a:p>
        </p:txBody>
      </p:sp>
      <p:pic>
        <p:nvPicPr>
          <p:cNvPr id="12" name="Picture 11" descr="eq_channel_expe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601" y="3218909"/>
            <a:ext cx="5372060" cy="5118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3950208"/>
            <a:ext cx="11094415" cy="2292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0A32E"/>
              </a:buClr>
              <a:buFont typeface="Times New Roman"/>
              <a:buChar char="▪"/>
            </a:pP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Block output = </a:t>
            </a:r>
            <a:r>
              <a:rPr b="1" i="0">
                <a:solidFill>
                  <a:srgbClr val="222A33"/>
                </a:solidFill>
                <a:latin typeface="Times New Roman"/>
                <a:cs typeface="Times New Roman"/>
              </a:rPr>
              <a:t>Σ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over K·I channel experts</a:t>
            </a:r>
            <a:r>
              <a:rPr lang="en-US" b="0" i="0">
                <a:solidFill>
                  <a:srgbClr val="222A33"/>
                </a:solidFill>
                <a:latin typeface="Times New Roman"/>
                <a:cs typeface="Times New Roman"/>
              </a:rPr>
              <a:t>: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a sum of rank-1 paths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0A32E"/>
              </a:buClr>
              <a:buFont typeface="Times New Roman"/>
              <a:buChar char="▪"/>
            </a:pP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The gating SiLU(w_gate,j·x) is a </a:t>
            </a:r>
            <a:r>
              <a:rPr b="1" i="0">
                <a:solidFill>
                  <a:srgbClr val="0E2A47"/>
                </a:solidFill>
                <a:latin typeface="Times New Roman"/>
                <a:cs typeface="Times New Roman"/>
              </a:rPr>
              <a:t>soft on/off switch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: near zero → the whole path contributes nothing, regardless of up/down</a:t>
            </a:r>
            <a:endParaRPr lang="en-US" b="0" i="0">
              <a:solidFill>
                <a:srgbClr val="222A33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0A32E"/>
              </a:buClr>
            </a:pPr>
            <a:endParaRPr lang="en-US">
              <a:solidFill>
                <a:srgbClr val="222A33"/>
              </a:solidFill>
              <a:latin typeface="Times New Roman"/>
              <a:cs typeface="Times New Roman"/>
            </a:endParaRPr>
          </a:p>
          <a:p>
            <a:pPr>
              <a:spcAft>
                <a:spcPts val="600"/>
              </a:spcAft>
              <a:buClr>
                <a:srgbClr val="E0A32E"/>
              </a:buClr>
            </a:pPr>
            <a:r>
              <a:rPr lang="en-US" sz="2000">
                <a:latin typeface="Times New Roman"/>
                <a:cs typeface="Times New Roman"/>
              </a:rPr>
              <a:t>Hypothesis: A token doesn’t need 8 whole experts, but only needs a sparse, token-specific subset of </a:t>
            </a:r>
            <a:r>
              <a:rPr lang="en-US" sz="2000" b="1">
                <a:latin typeface="Times New Roman"/>
                <a:cs typeface="Times New Roman"/>
              </a:rPr>
              <a:t>channels</a:t>
            </a:r>
            <a:r>
              <a:rPr lang="en-US" sz="2000">
                <a:latin typeface="Times New Roman"/>
                <a:cs typeface="Times New Roman"/>
              </a:rPr>
              <a:t> across them.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0A32E"/>
              </a:buClr>
            </a:pPr>
            <a:endParaRPr sz="1700" b="0" i="0">
              <a:solidFill>
                <a:srgbClr val="222A33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A Sparse Subset of Channels Suffices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Per token, activation magnitude concentrates on a handful of channels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pic>
        <p:nvPicPr>
          <p:cNvPr id="9" name="Picture 8" descr="fig_sparse_suffices.png"/>
          <p:cNvPicPr>
            <a:picLocks noChangeAspect="1"/>
          </p:cNvPicPr>
          <p:nvPr/>
        </p:nvPicPr>
        <p:blipFill>
          <a:blip r:embed="rId3"/>
          <a:srcRect t="7239" r="51839"/>
          <a:stretch>
            <a:fillRect/>
          </a:stretch>
        </p:blipFill>
        <p:spPr>
          <a:xfrm>
            <a:off x="676656" y="1822525"/>
            <a:ext cx="4356992" cy="35421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22323" y="1865677"/>
            <a:ext cx="602073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lang="en-US" sz="2000" b="0" i="0">
                <a:solidFill>
                  <a:srgbClr val="222A33"/>
                </a:solidFill>
                <a:latin typeface="Times New Roman"/>
                <a:cs typeface="Times New Roman"/>
              </a:rPr>
              <a:t>Will add some motivating experiment &amp; figures</a:t>
            </a:r>
            <a:endParaRPr sz="1600" b="0" i="0">
              <a:solidFill>
                <a:srgbClr val="222A33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The Subset Is Token-Specific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Which channels matter is re-decided every token → no fixed subset works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pic>
        <p:nvPicPr>
          <p:cNvPr id="9" name="Picture 8" descr="fig_token_specific.png"/>
          <p:cNvPicPr>
            <a:picLocks noChangeAspect="1"/>
          </p:cNvPicPr>
          <p:nvPr/>
        </p:nvPicPr>
        <p:blipFill>
          <a:blip r:embed="rId3"/>
          <a:srcRect r="37722"/>
          <a:stretch>
            <a:fillRect/>
          </a:stretch>
        </p:blipFill>
        <p:spPr>
          <a:xfrm>
            <a:off x="548640" y="1558515"/>
            <a:ext cx="5642095" cy="35255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4941" y="2283085"/>
            <a:ext cx="5168113" cy="1667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sz="2000" b="0" i="0">
                <a:solidFill>
                  <a:srgbClr val="222A33"/>
                </a:solidFill>
                <a:latin typeface="Times New Roman"/>
                <a:cs typeface="Times New Roman"/>
              </a:rPr>
              <a:t>Consecutive tokens routed to the same expert share only </a:t>
            </a:r>
            <a:r>
              <a:rPr sz="2000" b="1" i="0">
                <a:solidFill>
                  <a:srgbClr val="0E2A47"/>
                </a:solidFill>
                <a:latin typeface="Times New Roman"/>
                <a:cs typeface="Times New Roman"/>
              </a:rPr>
              <a:t>13%</a:t>
            </a:r>
            <a:r>
              <a:rPr sz="2000" b="0" i="0">
                <a:solidFill>
                  <a:srgbClr val="222A33"/>
                </a:solidFill>
                <a:latin typeface="Times New Roman"/>
                <a:cs typeface="Times New Roman"/>
              </a:rPr>
              <a:t> of their kept channels (budget ρ = 0.125).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sz="2000" b="0" i="0">
                <a:solidFill>
                  <a:srgbClr val="222A33"/>
                </a:solidFill>
                <a:latin typeface="Times New Roman"/>
                <a:cs typeface="Times New Roman"/>
              </a:rPr>
              <a:t>Almost no channel is stable: </a:t>
            </a:r>
            <a:r>
              <a:rPr sz="2000" b="1" i="0">
                <a:solidFill>
                  <a:srgbClr val="0E2A47"/>
                </a:solidFill>
                <a:latin typeface="Times New Roman"/>
                <a:cs typeface="Times New Roman"/>
              </a:rPr>
              <a:t>0%</a:t>
            </a:r>
            <a:r>
              <a:rPr sz="2000" b="0" i="0">
                <a:solidFill>
                  <a:srgbClr val="222A33"/>
                </a:solidFill>
                <a:latin typeface="Times New Roman"/>
                <a:cs typeface="Times New Roman"/>
              </a:rPr>
              <a:t> kept &gt;95% of the time; only 12% kept &lt;5%.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67528"/>
            <a:ext cx="11094415" cy="7132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5367528"/>
            <a:ext cx="128016" cy="713232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385816"/>
            <a:ext cx="10454335" cy="676656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Conclusion: the method must select online, per token, at channel granularity — offline / static baselines top out far below.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514600"/>
            <a:ext cx="1280160" cy="12801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852928"/>
            <a:ext cx="11094415" cy="615553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2A47"/>
                </a:solidFill>
                <a:latin typeface="Times New Roman"/>
                <a:cs typeface="Times New Roman"/>
              </a:rPr>
              <a:t>High-Level Framework</a:t>
            </a:r>
            <a:r>
              <a:rPr lang="en-US" sz="4000" b="1" i="0">
                <a:solidFill>
                  <a:srgbClr val="0E2A47"/>
                </a:solidFill>
                <a:latin typeface="Times New Roman"/>
                <a:cs typeface="Times New Roman"/>
              </a:rPr>
              <a:t> and Methods</a:t>
            </a:r>
            <a:endParaRPr sz="4000" b="1" i="0">
              <a:solidFill>
                <a:srgbClr val="0E2A47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Per-Token Channel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146193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For each token, only the channels that contribute most are activated</a:t>
            </a:r>
            <a:endParaRPr lang="en-US" sz="2000" b="1" i="0">
              <a:solidFill>
                <a:srgbClr val="1C7293"/>
              </a:solidFill>
              <a:latin typeface="Times New Roman"/>
              <a:cs typeface="Times New Roman"/>
            </a:endParaRP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0A32E"/>
              </a:buClr>
              <a:buFont typeface="Times New Roman"/>
              <a:buChar char="▪"/>
            </a:pPr>
            <a:r>
              <a:rPr lang="en-US" sz="2000">
                <a:solidFill>
                  <a:srgbClr val="222A33"/>
                </a:solidFill>
                <a:latin typeface="Times New Roman"/>
                <a:cs typeface="Times New Roman"/>
              </a:rPr>
              <a:t>Fixed per-token budget: </a:t>
            </a:r>
            <a:r>
              <a:rPr lang="en-US" sz="2000" b="1">
                <a:solidFill>
                  <a:srgbClr val="0E2A47"/>
                </a:solidFill>
                <a:latin typeface="Times New Roman"/>
                <a:cs typeface="Times New Roman"/>
              </a:rPr>
              <a:t>B channels out of K·I total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E0A32E"/>
              </a:buClr>
              <a:buFont typeface="Times New Roman"/>
              <a:buChar char="▪"/>
            </a:pPr>
            <a:r>
              <a:rPr lang="en-US" sz="2000" b="1">
                <a:solidFill>
                  <a:srgbClr val="0E2A47"/>
                </a:solidFill>
                <a:latin typeface="Times New Roman"/>
                <a:cs typeface="Times New Roman"/>
              </a:rPr>
              <a:t>Different tokens → different active subsets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sz="2000" b="1" i="0">
              <a:solidFill>
                <a:srgbClr val="1C7293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pic>
        <p:nvPicPr>
          <p:cNvPr id="9" name="Picture 8" descr="fig_channel_ac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816" y="2188160"/>
            <a:ext cx="8392062" cy="43543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Design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Two core problems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55648"/>
            <a:ext cx="536432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364327" cy="5486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" y="2029968"/>
            <a:ext cx="6400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029968"/>
            <a:ext cx="640080" cy="6400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0A32E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048256"/>
            <a:ext cx="4084167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Times New Roman"/>
                <a:cs typeface="Times New Roman"/>
              </a:rPr>
              <a:t>How to find the channels that contribute most for each token?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18688"/>
            <a:ext cx="4815687" cy="1210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lang="en-US">
                <a:solidFill>
                  <a:srgbClr val="222A33"/>
                </a:solidFill>
                <a:latin typeface="Times New Roman"/>
                <a:cs typeface="Times New Roman"/>
              </a:rPr>
              <a:t>The existing router only knows which experts, not which channels</a:t>
            </a:r>
            <a:endParaRPr lang="en-US" b="0" i="0">
              <a:solidFill>
                <a:srgbClr val="222A33"/>
              </a:solidFill>
              <a:latin typeface="Times New Roman"/>
              <a:cs typeface="Times New Roman"/>
            </a:endParaRP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A learned router of size d × (N·I) would be as large as the MoE itself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1755648"/>
            <a:ext cx="536432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1755648"/>
            <a:ext cx="5364327" cy="5486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4759" y="2029968"/>
            <a:ext cx="640080" cy="6400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4759" y="2029968"/>
            <a:ext cx="640080" cy="6400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0A32E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0287" y="2048256"/>
            <a:ext cx="4084167" cy="10972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Times New Roman"/>
                <a:cs typeface="Times New Roman"/>
              </a:rPr>
              <a:t>How does this bring real throughput acceleration?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218688"/>
            <a:ext cx="481568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The selection must be available before the main compute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Our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Use up_proj output as a built-in per-channel scorer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11004928" cy="10874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b="1" i="0">
                <a:solidFill>
                  <a:srgbClr val="0E2A47"/>
                </a:solidFill>
                <a:latin typeface="Times New Roman"/>
                <a:cs typeface="Times New Roman"/>
              </a:rPr>
              <a:t>Compute up·x at full width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→ score channels by activation magnitude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b="1" i="0">
                <a:solidFill>
                  <a:srgbClr val="0E2A47"/>
                </a:solidFill>
                <a:latin typeface="Times New Roman"/>
                <a:cs typeface="Times New Roman"/>
              </a:rPr>
              <a:t>Keep top-B channels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→ activate only those rows of gate and columns of down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b="1" i="0">
                <a:solidFill>
                  <a:srgbClr val="0E2A47"/>
                </a:solidFill>
                <a:latin typeface="Times New Roman"/>
                <a:cs typeface="Times New Roman"/>
              </a:rPr>
              <a:t>A predictor estimates the next layer’s mask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→ prefetch params with no waiting</a:t>
            </a:r>
          </a:p>
        </p:txBody>
      </p:sp>
      <p:pic>
        <p:nvPicPr>
          <p:cNvPr id="10" name="Picture 9" descr="fig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032" y="2834316"/>
            <a:ext cx="8485947" cy="39157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Why up_proj as the Channel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The architecture already contains a per-channel router — no extra params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pic>
        <p:nvPicPr>
          <p:cNvPr id="13" name="Picture 12" descr="eq_scoring.png">
            <a:extLst>
              <a:ext uri="{FF2B5EF4-FFF2-40B4-BE49-F238E27FC236}">
                <a16:creationId xmlns:a16="http://schemas.microsoft.com/office/drawing/2014/main" id="{FDBFF154-8234-D108-0928-2358A5CEF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46466" b="2364"/>
          <a:stretch>
            <a:fillRect/>
          </a:stretch>
        </p:blipFill>
        <p:spPr>
          <a:xfrm>
            <a:off x="4553464" y="1538114"/>
            <a:ext cx="2780271" cy="5637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360435-47FA-D34F-90FB-89ABF12408C4}"/>
              </a:ext>
            </a:extLst>
          </p:cNvPr>
          <p:cNvSpPr txBox="1"/>
          <p:nvPr/>
        </p:nvSpPr>
        <p:spPr>
          <a:xfrm>
            <a:off x="676656" y="2158756"/>
            <a:ext cx="11094415" cy="1487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buClr>
                <a:srgbClr val="E0A32E"/>
              </a:buClr>
            </a:pPr>
            <a:r>
              <a:rPr lang="en-US">
                <a:solidFill>
                  <a:srgbClr val="222A33"/>
                </a:solidFill>
                <a:latin typeface="Times New Roman"/>
                <a:cs typeface="Times New Roman"/>
              </a:rPr>
              <a:t>Using up_proj to select channels lets both gate and down run at reduced width</a:t>
            </a:r>
            <a:endParaRPr lang="en-US" sz="1800" b="1" i="0">
              <a:solidFill>
                <a:srgbClr val="1C7293"/>
              </a:solidFill>
              <a:latin typeface="Times New Roman"/>
              <a:cs typeface="Times New Roman"/>
            </a:endParaRP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sz="1800" b="1" i="0">
                <a:solidFill>
                  <a:srgbClr val="1C7293"/>
                </a:solidFill>
                <a:latin typeface="Times New Roman"/>
                <a:cs typeface="Times New Roman"/>
              </a:rPr>
              <a:t>g_e</a:t>
            </a: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:  router weight — puts all experts on one comparable scale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sz="1800" b="1" i="0">
                <a:solidFill>
                  <a:srgbClr val="1C7293"/>
                </a:solidFill>
                <a:latin typeface="Times New Roman"/>
                <a:cs typeface="Times New Roman"/>
              </a:rPr>
              <a:t>|u_e,j(x)| = |w_up,j · x|</a:t>
            </a: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:  activation magnitude (the token-specific signal)</a:t>
            </a:r>
            <a:r>
              <a:rPr lang="en-US">
                <a:solidFill>
                  <a:srgbClr val="222A33"/>
                </a:solidFill>
                <a:latin typeface="Times New Roman"/>
                <a:cs typeface="Times New Roman"/>
              </a:rPr>
              <a:t>, predicts which channels dominate h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endParaRPr lang="en-US" b="1">
              <a:solidFill>
                <a:srgbClr val="0E2A47"/>
              </a:solidFill>
              <a:latin typeface="Times New Roman"/>
              <a:cs typeface="Times New Roman"/>
            </a:endParaRPr>
          </a:p>
        </p:txBody>
      </p:sp>
      <p:pic>
        <p:nvPicPr>
          <p:cNvPr id="15" name="Picture 14" descr="fig_framework.png">
            <a:extLst>
              <a:ext uri="{FF2B5EF4-FFF2-40B4-BE49-F238E27FC236}">
                <a16:creationId xmlns:a16="http://schemas.microsoft.com/office/drawing/2014/main" id="{67D167E8-4F0F-5A5B-9E2F-FE4BE1AF65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263"/>
          <a:stretch>
            <a:fillRect/>
          </a:stretch>
        </p:blipFill>
        <p:spPr>
          <a:xfrm>
            <a:off x="1990032" y="4045800"/>
            <a:ext cx="8485947" cy="18301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Channel Expert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Predict layer i+1’s channel mask during layer i’s compute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10984686" cy="14927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b="1" i="0">
                <a:solidFill>
                  <a:srgbClr val="0E2A47"/>
                </a:solidFill>
                <a:latin typeface="Times New Roman"/>
                <a:cs typeface="Times New Roman"/>
              </a:rPr>
              <a:t>Problem: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must wait for up·x to know which channels to fetch → </a:t>
            </a:r>
            <a:r>
              <a:rPr b="1" i="0">
                <a:solidFill>
                  <a:srgbClr val="222A33"/>
                </a:solidFill>
                <a:latin typeface="Times New Roman"/>
                <a:cs typeface="Times New Roman"/>
              </a:rPr>
              <a:t>sequential dependency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b="1" i="0">
                <a:solidFill>
                  <a:srgbClr val="222A33"/>
                </a:solidFill>
                <a:latin typeface="Times New Roman"/>
                <a:cs typeface="Times New Roman"/>
              </a:rPr>
              <a:t>Adjacent-layer hidden states: cosine sim &gt; 0.95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(all layers except L0)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b="1" i="0">
                <a:solidFill>
                  <a:srgbClr val="1C7293"/>
                </a:solidFill>
                <a:latin typeface="Times New Roman"/>
                <a:cs typeface="Times New Roman"/>
              </a:rPr>
              <a:t>Predictor: â_up^(i+1) ≈ x^(i) · W_up^(i+1)</a:t>
            </a: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 — parameter-free, reuses next layer’s weights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b="0" i="0">
                <a:solidFill>
                  <a:srgbClr val="222A33"/>
                </a:solidFill>
                <a:latin typeface="Times New Roman"/>
                <a:cs typeface="Times New Roman"/>
              </a:rPr>
              <a:t>Predicted mask available one layer early → prefetch gate/down from memory</a:t>
            </a:r>
          </a:p>
        </p:txBody>
      </p:sp>
      <p:pic>
        <p:nvPicPr>
          <p:cNvPr id="12" name="Picture 11" descr="fig_framework.png">
            <a:extLst>
              <a:ext uri="{FF2B5EF4-FFF2-40B4-BE49-F238E27FC236}">
                <a16:creationId xmlns:a16="http://schemas.microsoft.com/office/drawing/2014/main" id="{BF719BDC-A752-D0BA-9AB5-4A5738F69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216" b="8920"/>
          <a:stretch>
            <a:fillRect/>
          </a:stretch>
        </p:blipFill>
        <p:spPr>
          <a:xfrm>
            <a:off x="612648" y="3548347"/>
            <a:ext cx="11201540" cy="22672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514600"/>
            <a:ext cx="1280160" cy="12801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852928"/>
            <a:ext cx="11094415" cy="1097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2A47"/>
                </a:solidFill>
                <a:latin typeface="Times New Roman"/>
                <a:cs typeface="Times New Roman"/>
              </a:rPr>
              <a:t>Experiment Results</a:t>
            </a:r>
          </a:p>
        </p:txBody>
      </p:sp>
      <p:pic>
        <p:nvPicPr>
          <p:cNvPr id="4" name="Picture 3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Two Scoring Signals — |up| vs |SiLU(gate)|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307777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Both valid; </a:t>
            </a:r>
            <a:r>
              <a:rPr lang="en-US" sz="2000" b="1" i="0">
                <a:solidFill>
                  <a:srgbClr val="1C7293"/>
                </a:solidFill>
                <a:latin typeface="Times New Roman"/>
                <a:cs typeface="Times New Roman"/>
              </a:rPr>
              <a:t>cute gate+down wins over cut up+down</a:t>
            </a:r>
            <a:endParaRPr sz="2000" b="1" i="0">
              <a:solidFill>
                <a:srgbClr val="1C7293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789766"/>
              </p:ext>
            </p:extLst>
          </p:nvPr>
        </p:nvGraphicFramePr>
        <p:xfrm>
          <a:off x="548640" y="1755648"/>
          <a:ext cx="11091672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up | gate | down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FFN cut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MMLU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HellaSwag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ARC-C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TruthfulQA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Avg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Dense baseline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−0|−0|−0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79.6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77.8</a:t>
                      </a:r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69.7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53.4</a:t>
                      </a:r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70.12</a:t>
                      </a:r>
                      <a:endParaRPr sz="1600" b="0" i="0">
                        <a:solidFill>
                          <a:srgbClr val="222A33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|up| (cut gate+down)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−0|−75|−75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−50%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78.6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75.4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66.0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51.1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67.8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|SiLU(gate)| (cut up+down)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−75|−0|−75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77.2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67.3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48.3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67.2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|up|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−0|−87.5|−87.5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−58.3%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75.3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71.5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63.2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50.8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65.2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|SiLU(gate)|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−87.5|−0|−87.5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−58.3%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74.0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72.5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64.4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45.1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64.0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Stacking with Top-K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Fewer experts × narrower experts compose orthogonally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562672"/>
              </p:ext>
            </p:extLst>
          </p:nvPr>
        </p:nvGraphicFramePr>
        <p:xfrm>
          <a:off x="548640" y="1755648"/>
          <a:ext cx="11091671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up | gate | down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FFN cut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MMLU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HellaSwag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Dense baseline (K=8)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 | −0 | −0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79.5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78.56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Top-4 only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 | −0 | −0  (×4/8)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−50%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77.4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75.96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Top-4 + dynamic −50%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 | −50 | −50  (×4/8)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−66.7%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77.2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74.0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Top-4 + dynamic −75%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 | −75 | −75  (×4/8)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−75.0%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74.3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70.0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544568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At −50% FFN, narrowing alone (78.6) outperforms expert-dropping (77.4)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At −75% FFN, stacking retains knowledge expert-dropping destroys (reduce-top-k 8→2 collapses to HellaSwag 49.4)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1" i="0">
                <a:solidFill>
                  <a:srgbClr val="1C7293"/>
                </a:solidFill>
                <a:latin typeface="Times New Roman"/>
                <a:cs typeface="Times New Roman"/>
              </a:rPr>
              <a:t>Orthogonal: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 top-k cuts whole experts; dynamic cuts channels within surviving experts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Channel Expert Predictor — Accuracy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Predicting the mask one layer early costs −1.5 MMLU pts (−50% FFN, |up|)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47088"/>
          <a:ext cx="11091672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Configuration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up | gate | down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MMLU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HellaSwag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ARC-C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TruthfulQA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Avg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Exact mask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 | −75 | −75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66.0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51.1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67.8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Predicted mask (FloE)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−0 | −75 | −75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77.1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75.2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65.0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52.1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67.4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721608"/>
            <a:ext cx="1109441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Measured recall: </a:t>
            </a:r>
            <a:r>
              <a:rPr sz="1800" b="1" i="0">
                <a:solidFill>
                  <a:srgbClr val="0E2A47"/>
                </a:solidFill>
                <a:latin typeface="Times New Roman"/>
                <a:cs typeface="Times New Roman"/>
              </a:rPr>
              <a:t>0.777</a:t>
            </a: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  (vs FloE’s ~0.95 on Mixtral-8×7B)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Average cost: </a:t>
            </a:r>
            <a:r>
              <a:rPr sz="1800" b="1" i="0">
                <a:solidFill>
                  <a:srgbClr val="0E2A47"/>
                </a:solidFill>
                <a:latin typeface="Times New Roman"/>
                <a:cs typeface="Times New Roman"/>
              </a:rPr>
              <a:t>−0.4 pts</a:t>
            </a: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 across 4 tasks; only MMLU loses measurably (−1.5)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E0A32E"/>
              </a:buClr>
              <a:buFont typeface="Times New Roman"/>
              <a:buChar char="▪"/>
            </a:pPr>
            <a:r>
              <a:rPr sz="1800" b="0" i="0">
                <a:solidFill>
                  <a:srgbClr val="222A33"/>
                </a:solidFill>
                <a:latin typeface="Times New Roman"/>
                <a:cs typeface="Times New Roman"/>
              </a:rPr>
              <a:t>Parameter-free; enables the latency-hiding prefetch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Efficiency — Edge Offload (Real 30B, Single L4)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Experts in CPU DRAM, AIME-24 generation, batch-1 decode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618422"/>
              </p:ext>
            </p:extLst>
          </p:nvPr>
        </p:nvGraphicFramePr>
        <p:xfrm>
          <a:off x="548640" y="1755648"/>
          <a:ext cx="1109167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Prefill </a:t>
                      </a:r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ms/tok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Decode </a:t>
                      </a:r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tok/s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vs dense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Peak GPU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Dense (all experts offloaded)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1.90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1.00×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3.2 GB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Dynamic (−75% gate+down)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291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3.43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1.81×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3.2 GB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+ Predicted prefetch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246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4.01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2.14×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3.2 GB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858768"/>
            <a:ext cx="1109441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600" b="0" i="0">
                <a:solidFill>
                  <a:srgbClr val="222A33"/>
                </a:solidFill>
                <a:latin typeface="Times New Roman"/>
                <a:cs typeface="Times New Roman"/>
              </a:rPr>
              <a:t>Halving PCIe bytes buys </a:t>
            </a: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1.81×</a:t>
            </a:r>
            <a:r>
              <a:rPr sz="1600" b="0" i="0">
                <a:solidFill>
                  <a:srgbClr val="222A33"/>
                </a:solidFill>
                <a:latin typeface="Times New Roman"/>
                <a:cs typeface="Times New Roman"/>
              </a:rPr>
              <a:t> on the clock (37.75 vs 75.50 MB/layer)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600" b="0" i="0">
                <a:solidFill>
                  <a:srgbClr val="222A33"/>
                </a:solidFill>
                <a:latin typeface="Times New Roman"/>
                <a:cs typeface="Times New Roman"/>
              </a:rPr>
              <a:t>Predicted prefetch overlaps next-layer fetch with compute → </a:t>
            </a: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2.14× total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600" b="0" i="0">
                <a:solidFill>
                  <a:srgbClr val="222A33"/>
                </a:solidFill>
                <a:latin typeface="Times New Roman"/>
                <a:cs typeface="Times New Roman"/>
              </a:rPr>
              <a:t>Peak GPU only 3.2 GB — 30B on one L4 with 20 GB to spare; prefill ~28 tok/s (mask-union saturates)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Efficiency — Cloud Resident (4× L4)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Experts resident in HBM, AIME-24 generation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28185"/>
              </p:ext>
            </p:extLst>
          </p:nvPr>
        </p:nvGraphicFramePr>
        <p:xfrm>
          <a:off x="548640" y="1664208"/>
          <a:ext cx="11094415" cy="1883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Batch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Prefill (tok/s)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Decode (ms/tok)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Peak GPU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Dense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172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15.7 GB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Dynamic (gathered)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17.4 GB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Dense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584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157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15.9 GB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659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Dynamic (gathered)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412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434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17.6 GB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712463"/>
            <a:ext cx="11094415" cy="457048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b="0" i="0">
                <a:solidFill>
                  <a:srgbClr val="222A33"/>
                </a:solidFill>
                <a:latin typeface="Times New Roman"/>
                <a:cs typeface="Times New Roman"/>
              </a:rPr>
              <a:t>[need to update the table results] 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Cloud resident with MoBE-factored up is a regression (2.38× read amplification); without MoBE the gathered kernel gives </a:t>
            </a:r>
            <a:r>
              <a:rPr sz="1500" b="1" i="0">
                <a:solidFill>
                  <a:srgbClr val="0E2A47"/>
                </a:solidFill>
                <a:latin typeface="Times New Roman"/>
                <a:cs typeface="Times New Roman"/>
              </a:rPr>
              <a:t>1.34× per-layer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.  Multi-batch decode dilutes per-token sparsity (mask-union saturates).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70831"/>
            <a:ext cx="11094415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C7293"/>
                </a:solidFill>
                <a:latin typeface="Times New Roman"/>
                <a:cs typeface="Times New Roman"/>
              </a:rPr>
              <a:t>Summary — two deployment targets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736592"/>
          <a:ext cx="11094415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Setting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Bottleneck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Decode benefit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Takeaway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Edge (offload, batch-1)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PCIe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2.14× (4.0 tok/s)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Primary target; prefetch essential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Cloud (resident, batch≥1)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HBM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1.34× per-layer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Modest; mask-union saturates at batch&gt;1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2514600"/>
            <a:ext cx="1280160" cy="128016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852928"/>
            <a:ext cx="11094415" cy="10972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2A47"/>
                </a:solidFill>
                <a:latin typeface="Times New Roman"/>
                <a:cs typeface="Times New Roman"/>
              </a:rPr>
              <a:t>Failing Experiments — What Didn’t Work</a:t>
            </a:r>
          </a:p>
        </p:txBody>
      </p:sp>
      <p:pic>
        <p:nvPicPr>
          <p:cNvPr id="4" name="Picture 3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Why Offline Methods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Channel contribution differs across tokens → fixed ranking is fundamentally limited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389913"/>
              </p:ext>
            </p:extLst>
          </p:nvPr>
        </p:nvGraphicFramePr>
        <p:xfrm>
          <a:off x="3901286" y="1828800"/>
          <a:ext cx="4663440" cy="1719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Reduction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offline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Online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74.26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78.54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4.3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−75%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63.60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78.28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14.7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−87.5%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44.15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76.84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32.7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178808"/>
            <a:ext cx="11094415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1" i="0">
                <a:solidFill>
                  <a:srgbClr val="0E2A47"/>
                </a:solidFill>
                <a:latin typeface="Times New Roman"/>
                <a:cs typeface="Times New Roman"/>
              </a:rPr>
              <a:t>(a)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 Consecutive same-expert tokens share only 7–20% of kept channels (layer 24, ρ=0.125).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1" i="0">
                <a:solidFill>
                  <a:srgbClr val="0E2A47"/>
                </a:solidFill>
                <a:latin typeface="Times New Roman"/>
                <a:cs typeface="Times New Roman"/>
              </a:rPr>
              <a:t>(b)</a:t>
            </a: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 One token needs 12.5% of channels — but the union over a prefill reaches 35% by 64 tokens, 74% by 2048.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E0A32E"/>
              </a:buClr>
              <a:buFont typeface="Times New Roman"/>
              <a:buChar char="▪"/>
            </a:pPr>
            <a:r>
              <a:rPr sz="1500" b="0" i="0">
                <a:solidFill>
                  <a:srgbClr val="222A33"/>
                </a:solidFill>
                <a:latin typeface="Times New Roman"/>
                <a:cs typeface="Times New Roman"/>
              </a:rPr>
              <a:t>99.3% of channels have variable utility; the entire headroom above offline is </a:t>
            </a:r>
            <a:r>
              <a:rPr sz="1500" b="1" i="0">
                <a:solidFill>
                  <a:srgbClr val="1C7293"/>
                </a:solidFill>
                <a:latin typeface="Times New Roman"/>
                <a:cs typeface="Times New Roman"/>
              </a:rPr>
              <a:t>per-token activation information.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9700E-E963-6F7B-7B74-C07FC4F9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994550-B1D2-9775-B0CB-648137CDC871}"/>
              </a:ext>
            </a:extLst>
          </p:cNvPr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06294-9C11-8833-FD15-C8CBC5A63D9C}"/>
              </a:ext>
            </a:extLst>
          </p:cNvPr>
          <p:cNvSpPr txBox="1"/>
          <p:nvPr/>
        </p:nvSpPr>
        <p:spPr>
          <a:xfrm>
            <a:off x="822959" y="348138"/>
            <a:ext cx="10820095" cy="492443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3000" b="1" i="0">
                <a:solidFill>
                  <a:srgbClr val="0E2A47"/>
                </a:solidFill>
                <a:latin typeface="Times New Roman"/>
                <a:cs typeface="Times New Roman"/>
              </a:rPr>
              <a:t>Limitations and </a:t>
            </a:r>
            <a:r>
              <a:rPr lang="en-US" sz="3200" b="1">
                <a:solidFill>
                  <a:srgbClr val="0E2A47"/>
                </a:solidFill>
                <a:latin typeface="Times New Roman"/>
                <a:cs typeface="Times New Roman"/>
              </a:rPr>
              <a:t>Future Steps</a:t>
            </a:r>
            <a:r>
              <a:rPr lang="en-US" sz="3000" b="1" i="0">
                <a:solidFill>
                  <a:srgbClr val="0E2A47"/>
                </a:solidFill>
                <a:latin typeface="Times New Roman"/>
                <a:cs typeface="Times New Roman"/>
              </a:rPr>
              <a:t> </a:t>
            </a:r>
            <a:endParaRPr sz="3000" b="1" i="0">
              <a:solidFill>
                <a:srgbClr val="0E2A47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mazon_logo.png">
            <a:extLst>
              <a:ext uri="{FF2B5EF4-FFF2-40B4-BE49-F238E27FC236}">
                <a16:creationId xmlns:a16="http://schemas.microsoft.com/office/drawing/2014/main" id="{D8804CF3-F1CB-766D-A74D-7F93F951E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8A6308-B822-1263-6CA6-8D4C6DC91246}"/>
              </a:ext>
            </a:extLst>
          </p:cNvPr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CD88A-ED7E-9387-F527-ADEC8CD6301D}"/>
              </a:ext>
            </a:extLst>
          </p:cNvPr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D2E91-DE78-9616-9A3C-A0A6A358ED16}"/>
              </a:ext>
            </a:extLst>
          </p:cNvPr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ADA1E2-431E-35AC-736A-19724B9BF910}"/>
              </a:ext>
            </a:extLst>
          </p:cNvPr>
          <p:cNvSpPr txBox="1"/>
          <p:nvPr/>
        </p:nvSpPr>
        <p:spPr>
          <a:xfrm>
            <a:off x="676656" y="2158756"/>
            <a:ext cx="11094415" cy="26672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b="1">
                <a:solidFill>
                  <a:srgbClr val="0E2A47"/>
                </a:solidFill>
                <a:latin typeface="Times New Roman"/>
                <a:cs typeface="Times New Roman"/>
              </a:rPr>
              <a:t>Limitation: </a:t>
            </a: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>
                <a:solidFill>
                  <a:srgbClr val="222A33"/>
                </a:solidFill>
                <a:latin typeface="Times New Roman"/>
                <a:cs typeface="Times New Roman"/>
              </a:rPr>
              <a:t>Parameter loading needs to wait for up_proj computation</a:t>
            </a: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>
                <a:solidFill>
                  <a:srgbClr val="222A33"/>
                </a:solidFill>
                <a:latin typeface="Times New Roman"/>
                <a:cs typeface="Times New Roman"/>
              </a:rPr>
              <a:t>up_proj must run at full width</a:t>
            </a:r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Font typeface="+mj-lt"/>
              <a:buAutoNum type="arabicPeriod"/>
            </a:pPr>
            <a:r>
              <a:rPr lang="en-US" b="1">
                <a:solidFill>
                  <a:srgbClr val="222A33"/>
                </a:solidFill>
                <a:latin typeface="Times New Roman"/>
                <a:cs typeface="Times New Roman"/>
              </a:rPr>
              <a:t>Online top-k 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endParaRPr lang="en-US" b="1">
              <a:solidFill>
                <a:srgbClr val="222A33"/>
              </a:solidFill>
              <a:latin typeface="Times New Roman"/>
              <a:cs typeface="Times New Roman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b="1">
                <a:solidFill>
                  <a:srgbClr val="222A33"/>
                </a:solidFill>
                <a:latin typeface="Times New Roman"/>
                <a:cs typeface="Times New Roman"/>
              </a:rPr>
              <a:t>Solution:</a:t>
            </a:r>
          </a:p>
          <a:p>
            <a:pPr marL="285750" indent="-2857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222A33"/>
                </a:solidFill>
                <a:latin typeface="Times New Roman"/>
                <a:cs typeface="Times New Roman"/>
              </a:rPr>
              <a:t>Low-rank decomposition for up_proj</a:t>
            </a:r>
          </a:p>
          <a:p>
            <a:pPr marL="285750" indent="-2857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222A33"/>
                </a:solidFill>
                <a:latin typeface="Times New Roman"/>
                <a:cs typeface="Times New Roman"/>
              </a:rPr>
              <a:t>Fit a small network to learn the threshold</a:t>
            </a:r>
          </a:p>
        </p:txBody>
      </p:sp>
    </p:spTree>
    <p:extLst>
      <p:ext uri="{BB962C8B-B14F-4D97-AF65-F5344CB8AC3E}">
        <p14:creationId xmlns:p14="http://schemas.microsoft.com/office/powerpoint/2010/main" val="1319517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MoBE — Reduce Total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Factorize expert weights into shared basis + per-expert transform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pic>
        <p:nvPicPr>
          <p:cNvPr id="9" name="Picture 8" descr="mobe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264" y="1618488"/>
            <a:ext cx="4173165" cy="1783080"/>
          </a:xfrm>
          <a:prstGeom prst="rect">
            <a:avLst/>
          </a:prstGeom>
        </p:spPr>
      </p:pic>
      <p:pic>
        <p:nvPicPr>
          <p:cNvPr id="10" name="Picture 9" descr="eq_m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93008"/>
            <a:ext cx="3255686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79" y="3447288"/>
            <a:ext cx="62023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0A32E"/>
              </a:buClr>
              <a:buFont typeface="Times New Roman"/>
              <a:buChar char="▪"/>
            </a:pPr>
            <a:r>
              <a:rPr sz="1300" b="1" i="0">
                <a:solidFill>
                  <a:srgbClr val="1C7293"/>
                </a:solidFill>
                <a:latin typeface="Times New Roman"/>
                <a:cs typeface="Times New Roman"/>
              </a:rPr>
              <a:t>Bⱼ ∈ ℝ ʳˣᵈ</a:t>
            </a:r>
            <a:r>
              <a:rPr sz="1300" b="0" i="0">
                <a:solidFill>
                  <a:srgbClr val="222A33"/>
                </a:solidFill>
                <a:latin typeface="Times New Roman"/>
                <a:cs typeface="Times New Roman"/>
              </a:rPr>
              <a:t>: m shared basis matrices (stored once for all 128 experts)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0A32E"/>
              </a:buClr>
              <a:buFont typeface="Times New Roman"/>
              <a:buChar char="▪"/>
            </a:pPr>
            <a:r>
              <a:rPr sz="1300" b="1" i="0">
                <a:solidFill>
                  <a:srgbClr val="1C7293"/>
                </a:solidFill>
                <a:latin typeface="Times New Roman"/>
                <a:cs typeface="Times New Roman"/>
              </a:rPr>
              <a:t>Aₑ ∈ ℝ ᵖˣʳ</a:t>
            </a:r>
            <a:r>
              <a:rPr sz="1300" b="0" i="0">
                <a:solidFill>
                  <a:srgbClr val="222A33"/>
                </a:solidFill>
                <a:latin typeface="Times New Roman"/>
                <a:cs typeface="Times New Roman"/>
              </a:rPr>
              <a:t>: per-expert transform.  f = SiLU (weight-space nonlinearity)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E0A32E"/>
              </a:buClr>
              <a:buFont typeface="Times New Roman"/>
              <a:buChar char="▪"/>
            </a:pPr>
            <a:r>
              <a:rPr sz="1300" b="0" i="0">
                <a:solidFill>
                  <a:srgbClr val="222A33"/>
                </a:solidFill>
                <a:latin typeface="Times New Roman"/>
                <a:cs typeface="Times New Roman"/>
              </a:rPr>
              <a:t>Data-free fit: Adam, lr = 0.07, 2000 steps per (layer, type)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407408"/>
          <a:ext cx="11094415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Setting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MoE storage ↓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MMLU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HellaSwag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PPL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Baseline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79.6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77.68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8.70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MoBE up50% (m=16, r=768)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−16.7%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76.6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12.91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MoBE even-split −33% (m=38)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−33%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76.83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73.13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10.10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MoBE + Dynamic — Stacking Two Orthogonal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MoBE reduces storage; dynamic reduces active. The two compose.</a:t>
            </a:r>
          </a:p>
        </p:txBody>
      </p:sp>
      <p:pic>
        <p:nvPicPr>
          <p:cNvPr id="5" name="Picture 4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01368"/>
          <a:ext cx="11091672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Configuration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Storage ↓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Active FFN cut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MMLU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HellaSwag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PPL</a:t>
                      </a:r>
                    </a:p>
                  </a:txBody>
                  <a:tcPr marL="54864" marR="54864" marT="9144" marB="9144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Dense baseline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79.6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78.56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10.89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MoBE up50 alone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−16.7%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−16.7%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76.6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12.91</a:t>
                      </a:r>
                    </a:p>
                  </a:txBody>
                  <a:tcPr marL="54864" marR="54864" marT="9144" marB="9144" anchor="ctr">
                    <a:solidFill>
                      <a:srgbClr val="EA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Dynamic −75% alone (K=8)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78.6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75.4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16.89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MoBE up50 + dynamic −75%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−16.7%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−66.7%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76.3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71.3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22A33"/>
                          </a:solidFill>
                          <a:latin typeface="Times New Roman"/>
                          <a:cs typeface="Times New Roman"/>
                        </a:rPr>
                        <a:t>18.82</a:t>
                      </a:r>
                    </a:p>
                  </a:txBody>
                  <a:tcPr marL="54864" marR="54864" marT="9144" marB="9144" anchor="ctr"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215383"/>
            <a:ext cx="1109441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600" b="0" i="0">
                <a:solidFill>
                  <a:srgbClr val="222A33"/>
                </a:solidFill>
                <a:latin typeface="Times New Roman"/>
                <a:cs typeface="Times New Roman"/>
              </a:rPr>
              <a:t>MoBE compresses up_proj storage (the scoring signal); dynamic cuts gate/down active per token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600" b="1" i="0">
                <a:solidFill>
                  <a:srgbClr val="0E2A47"/>
                </a:solidFill>
                <a:latin typeface="Times New Roman"/>
                <a:cs typeface="Times New Roman"/>
              </a:rPr>
              <a:t>Composed −66.7% active cut (MMLU 76.3) dominates pushing either axis alone to the same depth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E0A32E"/>
              </a:buClr>
              <a:buFont typeface="Times New Roman"/>
              <a:buChar char="▪"/>
            </a:pPr>
            <a:r>
              <a:rPr sz="1600" b="0" i="0">
                <a:solidFill>
                  <a:srgbClr val="222A33"/>
                </a:solidFill>
                <a:latin typeface="Times New Roman"/>
                <a:cs typeface="Times New Roman"/>
              </a:rPr>
              <a:t>On edge, MoBE also reduces DRAM footprint (48.3 GB vs 58.0 GB), fitting smaller devices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10896"/>
            <a:ext cx="128016" cy="566928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201168"/>
            <a:ext cx="10820095" cy="78638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2A47"/>
                </a:solidFill>
                <a:latin typeface="Times New Roman"/>
                <a:cs typeface="Times New Roman"/>
              </a:rPr>
              <a:t>Next Steps</a:t>
            </a:r>
          </a:p>
        </p:txBody>
      </p:sp>
      <p:pic>
        <p:nvPicPr>
          <p:cNvPr id="4" name="Picture 3" descr="amaz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6309360"/>
            <a:ext cx="1463040" cy="4407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140135" y="6400800"/>
            <a:ext cx="109728" cy="237744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23015" y="6364224"/>
            <a:ext cx="6858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  <a:cs typeface="Times New Roman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382512"/>
            <a:ext cx="8229600" cy="32004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C6B7A"/>
                </a:solidFill>
                <a:latin typeface="Times New Roman"/>
                <a:cs typeface="Times New Roman"/>
              </a:rPr>
              <a:t>Per-Token Adaptive Channel Activation for MoE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15258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15258" cy="65836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3186074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System design for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14949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sz="1400" b="0" i="0">
                <a:solidFill>
                  <a:srgbClr val="222A33"/>
                </a:solidFill>
                <a:latin typeface="Times New Roman"/>
                <a:cs typeface="Times New Roman"/>
              </a:rPr>
              <a:t>Fused Triton kernel: up[full] → select M → gate[M]·x → SiLU → ⊙ up[M] → down[M], one launch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sz="1400" b="0" i="0">
                <a:solidFill>
                  <a:srgbClr val="222A33"/>
                </a:solidFill>
                <a:latin typeface="Times New Roman"/>
                <a:cs typeface="Times New Roman"/>
              </a:rPr>
              <a:t>End-to-end offload runtime with double-buffered prefetch → interactive 30B on edge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sz="1400" b="0" i="0">
                <a:solidFill>
                  <a:srgbClr val="222A33"/>
                </a:solidFill>
                <a:latin typeface="Times New Roman"/>
                <a:cs typeface="Times New Roman"/>
              </a:rPr>
              <a:t>Memory-fetch pattern optimization for the multi-layer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218" y="1280160"/>
            <a:ext cx="3515258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8218" y="1280160"/>
            <a:ext cx="3515258" cy="65836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2810" y="1280160"/>
            <a:ext cx="3186074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Reduce total parameters further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103120"/>
            <a:ext cx="314949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sz="1400" b="0" i="0">
                <a:solidFill>
                  <a:srgbClr val="222A33"/>
                </a:solidFill>
                <a:latin typeface="Times New Roman"/>
                <a:cs typeface="Times New Roman"/>
              </a:rPr>
              <a:t>MoBE beats Nyström at 1.5× compression (73.13 HS vs 65.10 at −33%)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sz="1400" b="0" i="0">
                <a:solidFill>
                  <a:srgbClr val="222A33"/>
                </a:solidFill>
                <a:latin typeface="Times New Roman"/>
                <a:cs typeface="Times New Roman"/>
              </a:rPr>
              <a:t>Stack on Nyström-compressed base: another 1.5× on top (running now)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280160"/>
            <a:ext cx="3515258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7796" y="1280160"/>
            <a:ext cx="3515258" cy="65836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2388" y="1280160"/>
            <a:ext cx="3186074" cy="65836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cs typeface="Times New Roman"/>
              </a:rPr>
              <a:t>Learn per-token expert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2103120"/>
            <a:ext cx="314949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sz="1400" b="0" i="0">
                <a:solidFill>
                  <a:srgbClr val="222A33"/>
                </a:solidFill>
                <a:latin typeface="Times New Roman"/>
                <a:cs typeface="Times New Roman"/>
              </a:rPr>
              <a:t>Current: fixed K=8 experts/token. Many tokens need fewer</a:t>
            </a:r>
          </a:p>
          <a:p>
            <a:pPr marL="256032" indent="-256032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E0A32E"/>
              </a:buClr>
              <a:buFont typeface="Times New Roman"/>
              <a:buChar char="▪"/>
            </a:pPr>
            <a:r>
              <a:rPr sz="1400" b="0" i="0">
                <a:solidFill>
                  <a:srgbClr val="222A33"/>
                </a:solidFill>
                <a:latin typeface="Times New Roman"/>
                <a:cs typeface="Times New Roman"/>
              </a:rPr>
              <a:t>Combine with top-p routing → dynamic total budget per token (not just channel allocation)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1094415" cy="8229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0E2A47"/>
                </a:solidFill>
                <a:latin typeface="Times New Roman"/>
                <a:cs typeface="Times New Roman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1094415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C7293"/>
                </a:solidFill>
                <a:latin typeface="Times New Roman"/>
                <a:cs typeface="Times New Roman"/>
              </a:rPr>
              <a:t>Per-token dynamic channel selection: the right granularity for MoE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9115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Font typeface="Times New Roman"/>
              <a:buAutoNum type="arabicPeriod"/>
            </a:pPr>
            <a:r>
              <a:rPr sz="1900" b="1" i="0">
                <a:solidFill>
                  <a:srgbClr val="1C7293"/>
                </a:solidFill>
                <a:latin typeface="Times New Roman"/>
                <a:cs typeface="Times New Roman"/>
              </a:rPr>
              <a:t>Channel experts</a:t>
            </a:r>
            <a:r>
              <a:rPr sz="1900" b="0" i="0">
                <a:solidFill>
                  <a:srgbClr val="222A33"/>
                </a:solidFill>
                <a:latin typeface="Times New Roman"/>
                <a:cs typeface="Times New Roman"/>
              </a:rPr>
              <a:t>  —  the effective expert unit is a single intermediate channel, not a whole expert</a:t>
            </a:r>
          </a:p>
          <a:p>
            <a:pPr marL="320040" indent="-32004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Font typeface="Times New Roman"/>
              <a:buAutoNum type="arabicPeriod"/>
            </a:pPr>
            <a:r>
              <a:rPr sz="1900" b="1" i="0">
                <a:solidFill>
                  <a:srgbClr val="1C7293"/>
                </a:solidFill>
                <a:latin typeface="Times New Roman"/>
                <a:cs typeface="Times New Roman"/>
              </a:rPr>
              <a:t>up_proj as built-in router</a:t>
            </a:r>
            <a:r>
              <a:rPr sz="1900" b="0" i="0">
                <a:solidFill>
                  <a:srgbClr val="222A33"/>
                </a:solidFill>
                <a:latin typeface="Times New Roman"/>
                <a:cs typeface="Times New Roman"/>
              </a:rPr>
              <a:t>  —  no extra params; activation magnitude scores channels per token</a:t>
            </a:r>
          </a:p>
          <a:p>
            <a:pPr marL="320040" indent="-32004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Font typeface="Times New Roman"/>
              <a:buAutoNum type="arabicPeriod"/>
            </a:pPr>
            <a:r>
              <a:rPr sz="1900" b="1" i="0">
                <a:solidFill>
                  <a:srgbClr val="1C7293"/>
                </a:solidFill>
                <a:latin typeface="Times New Roman"/>
                <a:cs typeface="Times New Roman"/>
              </a:rPr>
              <a:t>−50% expert-FFN active → MMLU 78.6 (−1 pt), no training</a:t>
            </a:r>
            <a:r>
              <a:rPr sz="1900" b="0" i="0">
                <a:solidFill>
                  <a:srgbClr val="222A33"/>
                </a:solidFill>
                <a:latin typeface="Times New Roman"/>
                <a:cs typeface="Times New Roman"/>
              </a:rPr>
              <a:t>  —  exact at budget, composes with MoBE</a:t>
            </a:r>
          </a:p>
          <a:p>
            <a:pPr marL="320040" indent="-32004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Font typeface="Times New Roman"/>
              <a:buAutoNum type="arabicPeriod"/>
            </a:pPr>
            <a:r>
              <a:rPr sz="1900" b="1" i="0">
                <a:solidFill>
                  <a:srgbClr val="1C7293"/>
                </a:solidFill>
                <a:latin typeface="Times New Roman"/>
                <a:cs typeface="Times New Roman"/>
              </a:rPr>
              <a:t>2.14× edge decode speedup</a:t>
            </a:r>
            <a:r>
              <a:rPr sz="1900" b="0" i="0">
                <a:solidFill>
                  <a:srgbClr val="222A33"/>
                </a:solidFill>
                <a:latin typeface="Times New Roman"/>
                <a:cs typeface="Times New Roman"/>
              </a:rPr>
              <a:t>  —  predicted prefetch at 97% PCIe peak; payoff on bandwidth-starved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2272</Words>
  <Application>Microsoft Macintosh PowerPoint</Application>
  <PresentationFormat>Widescreen</PresentationFormat>
  <Paragraphs>430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Zhao, Yequan</cp:lastModifiedBy>
  <cp:revision>56</cp:revision>
  <dcterms:created xsi:type="dcterms:W3CDTF">2013-01-27T09:14:16Z</dcterms:created>
  <dcterms:modified xsi:type="dcterms:W3CDTF">2026-08-07T18:42:54Z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2026-08-07T05:22:28Z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a5bad562-b75e-40b1-9ad8-78b4285d6093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