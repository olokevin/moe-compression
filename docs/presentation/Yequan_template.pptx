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495" r:id="rId2"/>
    <p:sldId id="544" r:id="rId3"/>
    <p:sldId id="54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6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61" autoAdjust="0"/>
    <p:restoredTop sz="77431" autoAdjust="0"/>
  </p:normalViewPr>
  <p:slideViewPr>
    <p:cSldViewPr snapToGrid="0" snapToObjects="1">
      <p:cViewPr varScale="1">
        <p:scale>
          <a:sx n="91" d="100"/>
          <a:sy n="91" d="100"/>
        </p:scale>
        <p:origin x="1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1994AF-D40F-C049-8F53-8999E12B5AB7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0526B-4D11-5B47-ABB8-EA6BDB014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2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0526B-4D11-5B47-ABB8-EA6BDB0149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16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528D4-EFA3-574A-D383-EF05DE0C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803CF-3F37-0546-24D3-A91C0F72C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48C0B-8C03-EEF3-0B2C-D3908C21D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D8658-A8CC-A2E2-367F-48322E556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0526B-4D11-5B47-ABB8-EA6BDB0149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90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BD438E-54C3-1542-AD4D-7C03686E93D3}"/>
              </a:ext>
            </a:extLst>
          </p:cNvPr>
          <p:cNvSpPr/>
          <p:nvPr userDrawn="1"/>
        </p:nvSpPr>
        <p:spPr>
          <a:xfrm>
            <a:off x="0" y="5624947"/>
            <a:ext cx="12192000" cy="1233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29C91-D1E5-C148-B8F1-D5C38B745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745" y="1539061"/>
            <a:ext cx="11269491" cy="922626"/>
          </a:xfrm>
        </p:spPr>
        <p:txBody>
          <a:bodyPr anchor="b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5F596-65D0-A341-9573-4D5B53D50F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745" y="2553763"/>
            <a:ext cx="11269491" cy="894506"/>
          </a:xfrm>
        </p:spPr>
        <p:txBody>
          <a:bodyPr>
            <a:normAutofit/>
          </a:bodyPr>
          <a:lstStyle>
            <a:lvl1pPr marL="0" indent="0" algn="l">
              <a:buNone/>
              <a:defRPr sz="2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292E38-076C-EB41-8603-A55427D676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746" y="320041"/>
            <a:ext cx="1075508" cy="274991"/>
          </a:xfrm>
        </p:spPr>
        <p:txBody>
          <a:bodyPr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900">
                <a:solidFill>
                  <a:schemeClr val="bg1"/>
                </a:solidFill>
              </a:defRPr>
            </a:lvl2pPr>
            <a:lvl3pPr marL="685800" indent="0">
              <a:buNone/>
              <a:defRPr sz="900">
                <a:solidFill>
                  <a:schemeClr val="bg1"/>
                </a:solidFill>
              </a:defRPr>
            </a:lvl3pPr>
            <a:lvl4pPr marL="1028700" indent="0">
              <a:buNone/>
              <a:defRPr sz="900">
                <a:solidFill>
                  <a:schemeClr val="bg1"/>
                </a:solidFill>
              </a:defRPr>
            </a:lvl4pPr>
            <a:lvl5pPr marL="1371600" indent="0">
              <a:buNone/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MM/DD/YY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C4349C-0BCF-8045-9796-523469306F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2984" y="6455664"/>
            <a:ext cx="5873016" cy="256742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1000" b="1">
                <a:solidFill>
                  <a:schemeClr val="bg1"/>
                </a:solidFill>
              </a:defRPr>
            </a:lvl1pPr>
            <a:lvl2pPr marL="342900" indent="0">
              <a:buNone/>
              <a:defRPr b="1">
                <a:solidFill>
                  <a:schemeClr val="bg1"/>
                </a:solidFill>
              </a:defRPr>
            </a:lvl2pPr>
            <a:lvl3pPr marL="685800" indent="0">
              <a:buNone/>
              <a:defRPr b="1">
                <a:solidFill>
                  <a:schemeClr val="bg1"/>
                </a:solidFill>
              </a:defRPr>
            </a:lvl3pPr>
            <a:lvl4pPr marL="1028700" indent="0">
              <a:buNone/>
              <a:defRPr b="1">
                <a:solidFill>
                  <a:schemeClr val="bg1"/>
                </a:solidFill>
              </a:defRPr>
            </a:lvl4pPr>
            <a:lvl5pPr marL="1371600" indent="0">
              <a:buNone/>
              <a:defRPr b="1">
                <a:solidFill>
                  <a:schemeClr val="bg1"/>
                </a:solidFill>
              </a:defRPr>
            </a:lvl5pPr>
          </a:lstStyle>
          <a:p>
            <a:r>
              <a:rPr lang="en-US" altLang="zh-CN" dirty="0"/>
              <a:t>Department of Electrical &amp;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3933062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A3A9-1A8A-E64F-9D05-95B9CCF2F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70" y="365126"/>
            <a:ext cx="11139060" cy="594360"/>
          </a:xfrm>
        </p:spPr>
        <p:txBody>
          <a:bodyPr anchor="t" anchorCtr="0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1EB4E-BB72-914E-8B6C-9B81EF8D8D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62000" y="1270591"/>
            <a:ext cx="10661069" cy="4906372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>
              <a:defRPr sz="16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>
              <a:defRPr sz="16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536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C4527-BD31-454E-9107-69E39D6B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70" y="365127"/>
            <a:ext cx="11139059" cy="6012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0E3AB4-4EDC-2F4E-9329-91A2FE36ED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1264045"/>
            <a:ext cx="10661069" cy="1289969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900" indent="0">
              <a:buNone/>
              <a:defRPr sz="1800">
                <a:solidFill>
                  <a:schemeClr val="tx1"/>
                </a:solidFill>
              </a:defRPr>
            </a:lvl2pPr>
            <a:lvl3pPr marL="685800" indent="0">
              <a:buNone/>
              <a:defRPr sz="1800">
                <a:solidFill>
                  <a:schemeClr val="tx1"/>
                </a:solidFill>
              </a:defRPr>
            </a:lvl3pPr>
            <a:lvl4pPr marL="1028700" indent="0">
              <a:buNone/>
              <a:defRPr sz="1800">
                <a:solidFill>
                  <a:schemeClr val="tx1"/>
                </a:solidFill>
              </a:defRPr>
            </a:lvl4pPr>
            <a:lvl5pPr marL="1371600" indent="0"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. </a:t>
            </a:r>
          </a:p>
          <a:p>
            <a:pPr lvl="0"/>
            <a:endParaRPr lang="en-US" dirty="0"/>
          </a:p>
          <a:p>
            <a:pPr lvl="4"/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8D8CD89-FCB8-EC44-88B7-A7D2288BDF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000" y="3096695"/>
            <a:ext cx="10661069" cy="28162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822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82FA-781A-C548-9707-B4EA67FB2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95C43-266B-B24A-8AEC-05D656EB3B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376916"/>
            <a:ext cx="5232400" cy="4800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C6B5A-63BB-4E4D-BC5F-3E79E1ADE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376916"/>
            <a:ext cx="5225469" cy="4800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952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locks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82FA-781A-C548-9707-B4EA67FB2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95C43-266B-B24A-8AEC-05D656EB3B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4267"/>
            <a:ext cx="5232400" cy="147803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DDFAD5-F047-3041-8386-E66D01BC113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762000" y="4365771"/>
            <a:ext cx="5232400" cy="181119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C7C1AA-6F23-AA49-9026-A28AE8D9CD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3906838"/>
            <a:ext cx="5232400" cy="4587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Edit Bulleted List Title 2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D1EAAD0-5A62-CC4B-BC05-BC5CBEDF65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2000" y="1825481"/>
            <a:ext cx="5232400" cy="4587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Edit Bulleted List Title 1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C16FF6-B5DF-0C42-A500-F2E8C80DF7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21073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96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s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82FA-781A-C548-9707-B4EA67FB2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95C43-266B-B24A-8AEC-05D656EB3B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4267"/>
            <a:ext cx="5232400" cy="1478036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2DDFAD5-F047-3041-8386-E66D01BC113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762000" y="4365771"/>
            <a:ext cx="5232400" cy="181119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C7C1AA-6F23-AA49-9026-A28AE8D9CD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3906838"/>
            <a:ext cx="5232400" cy="4587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Edit Bulleted List Title 2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BD1EAAD0-5A62-CC4B-BC05-BC5CBEDF65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2000" y="1825481"/>
            <a:ext cx="5232400" cy="4587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Edit Bulleted List Title 1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EBD32F5-35B3-D748-8BC3-8E9E25E502B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36853" y="2284122"/>
            <a:ext cx="5156200" cy="147803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B267FC4-B2EF-DA47-AA11-5BF6913B672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36853" y="4365626"/>
            <a:ext cx="5156200" cy="181119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603B3A9A-9264-7E49-A031-4581AFA215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6853" y="3906694"/>
            <a:ext cx="5156200" cy="4587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Edit Bulleted List Title 4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3E58B0F-56D2-8D46-B63E-37D8C16EED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6853" y="1825336"/>
            <a:ext cx="5156200" cy="4587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en-US" dirty="0"/>
              <a:t>Edit Bulleted List Title 3</a:t>
            </a:r>
          </a:p>
        </p:txBody>
      </p:sp>
    </p:spTree>
    <p:extLst>
      <p:ext uri="{BB962C8B-B14F-4D97-AF65-F5344CB8AC3E}">
        <p14:creationId xmlns:p14="http://schemas.microsoft.com/office/powerpoint/2010/main" val="187748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FE5BE-4DA3-0040-85D4-10ED4DE04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1" y="1681163"/>
            <a:ext cx="5236633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DA9CA-B66B-E34F-B1B6-BC9931475C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2505075"/>
            <a:ext cx="5236633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9D562A-BDA8-6946-ADE8-8AD6EF0CF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250869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15DDEE-EBF8-934D-9120-77750C4EAC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250869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1A12BF7-2D7E-BD40-997F-1E0233E1E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758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1099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Nav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68F591-06BA-094E-829F-34CD10B83CFA}"/>
              </a:ext>
            </a:extLst>
          </p:cNvPr>
          <p:cNvSpPr/>
          <p:nvPr userDrawn="1"/>
        </p:nvSpPr>
        <p:spPr>
          <a:xfrm>
            <a:off x="0" y="5624947"/>
            <a:ext cx="12192000" cy="1233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015E5-05D3-9748-926A-64DD9D886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4094024"/>
            <a:ext cx="10515600" cy="1154257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1770C-BA65-584A-919E-FFBBDCA8F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5275269"/>
            <a:ext cx="10515600" cy="103548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567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12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Aqu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68F591-06BA-094E-829F-34CD10B83CFA}"/>
              </a:ext>
            </a:extLst>
          </p:cNvPr>
          <p:cNvSpPr/>
          <p:nvPr userDrawn="1"/>
        </p:nvSpPr>
        <p:spPr>
          <a:xfrm>
            <a:off x="0" y="5624947"/>
            <a:ext cx="12192000" cy="12330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4A97A8-43D7-F94A-804D-F2509E2A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4094024"/>
            <a:ext cx="10515600" cy="1154257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9096781-2EAB-AA41-A18B-BE5F99DCF8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5275269"/>
            <a:ext cx="10515600" cy="103548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4216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Mos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68F591-06BA-094E-829F-34CD10B83CFA}"/>
              </a:ext>
            </a:extLst>
          </p:cNvPr>
          <p:cNvSpPr/>
          <p:nvPr userDrawn="1"/>
        </p:nvSpPr>
        <p:spPr>
          <a:xfrm>
            <a:off x="0" y="5624947"/>
            <a:ext cx="12192000" cy="12330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F876699-58AE-B843-BF2C-CDF9111EB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4094024"/>
            <a:ext cx="10515600" cy="1154257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B978750-9265-2F42-B1FE-2C5F098F1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5275269"/>
            <a:ext cx="10515600" cy="103548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63511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ea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68F591-06BA-094E-829F-34CD10B83CFA}"/>
              </a:ext>
            </a:extLst>
          </p:cNvPr>
          <p:cNvSpPr/>
          <p:nvPr userDrawn="1"/>
        </p:nvSpPr>
        <p:spPr>
          <a:xfrm>
            <a:off x="0" y="5624947"/>
            <a:ext cx="12192000" cy="12330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644280-2B94-1F43-9F9D-005751069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4094024"/>
            <a:ext cx="10515600" cy="1154257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3B9B106-9A81-3A4E-91A5-71CBBB636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5275269"/>
            <a:ext cx="10515600" cy="103548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75631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oral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68F591-06BA-094E-829F-34CD10B83CFA}"/>
              </a:ext>
            </a:extLst>
          </p:cNvPr>
          <p:cNvSpPr/>
          <p:nvPr userDrawn="1"/>
        </p:nvSpPr>
        <p:spPr>
          <a:xfrm>
            <a:off x="0" y="5624947"/>
            <a:ext cx="12192000" cy="123305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82ADD1F-C4BC-934B-9603-A2E4E0DE9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4094024"/>
            <a:ext cx="10515600" cy="1154257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0149829-E60C-E548-BAF8-EC7F8D7B4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5275269"/>
            <a:ext cx="10515600" cy="103548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8087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Go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68F591-06BA-094E-829F-34CD10B83CFA}"/>
              </a:ext>
            </a:extLst>
          </p:cNvPr>
          <p:cNvSpPr/>
          <p:nvPr userDrawn="1"/>
        </p:nvSpPr>
        <p:spPr>
          <a:xfrm>
            <a:off x="0" y="5624947"/>
            <a:ext cx="12192000" cy="123305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95FD081-AA49-494B-8BF7-8841DD035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4094024"/>
            <a:ext cx="10515600" cy="1154257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C919967-9EDC-654B-8BBC-D55887E7A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5275269"/>
            <a:ext cx="10515600" cy="103548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05776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406F1E-85A4-E549-8CCC-F44CAE24C63C}"/>
              </a:ext>
            </a:extLst>
          </p:cNvPr>
          <p:cNvSpPr/>
          <p:nvPr userDrawn="1"/>
        </p:nvSpPr>
        <p:spPr>
          <a:xfrm>
            <a:off x="0" y="6165275"/>
            <a:ext cx="12192000" cy="69272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250E9B-4A51-4A68-9584-2D9D7607EA4F}"/>
              </a:ext>
            </a:extLst>
          </p:cNvPr>
          <p:cNvSpPr txBox="1"/>
          <p:nvPr userDrawn="1"/>
        </p:nvSpPr>
        <p:spPr>
          <a:xfrm>
            <a:off x="1050851" y="2644170"/>
            <a:ext cx="100902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 for your attention!</a:t>
            </a:r>
          </a:p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 &amp; A</a:t>
            </a:r>
            <a:endParaRPr lang="zh-CN" altLang="en-US" sz="4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73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6470" y="365126"/>
            <a:ext cx="11139060" cy="5923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647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DB729E-6941-55B4-614D-CFB694CF5950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91692" y="6312665"/>
            <a:ext cx="1466137" cy="44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001F96B-9546-1988-0348-E91A115C844D}"/>
              </a:ext>
            </a:extLst>
          </p:cNvPr>
          <p:cNvSpPr txBox="1">
            <a:spLocks/>
          </p:cNvSpPr>
          <p:nvPr/>
        </p:nvSpPr>
        <p:spPr>
          <a:xfrm>
            <a:off x="423745" y="1539061"/>
            <a:ext cx="11768255" cy="92262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2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Towards Efficient MoE models on Cor3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4701B66-E6EC-7FDD-3F73-E6D65B1079FD}"/>
              </a:ext>
            </a:extLst>
          </p:cNvPr>
          <p:cNvSpPr txBox="1">
            <a:spLocks/>
          </p:cNvSpPr>
          <p:nvPr/>
        </p:nvSpPr>
        <p:spPr>
          <a:xfrm>
            <a:off x="423745" y="2981746"/>
            <a:ext cx="11269491" cy="2337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Yequan Zhao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Mentor: Tong Qin</a:t>
            </a:r>
          </a:p>
          <a:p>
            <a:pPr marL="0" indent="0">
              <a:buNone/>
            </a:pPr>
            <a:r>
              <a:rPr lang="en-US" dirty="0"/>
              <a:t>In collaboration with: Steve Teig, Niall Moran, Deepak Gupta</a:t>
            </a:r>
          </a:p>
          <a:p>
            <a:pPr marL="0" indent="0">
              <a:buNone/>
            </a:pPr>
            <a:r>
              <a:rPr lang="en-US" dirty="0"/>
              <a:t>Report to: Sankalp Dayal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B1553D8-36B3-4F12-3184-FED38DA7B8CC}"/>
              </a:ext>
            </a:extLst>
          </p:cNvPr>
          <p:cNvSpPr txBox="1">
            <a:spLocks/>
          </p:cNvSpPr>
          <p:nvPr/>
        </p:nvSpPr>
        <p:spPr>
          <a:xfrm>
            <a:off x="423745" y="320041"/>
            <a:ext cx="1205029" cy="32289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09/17/2025</a:t>
            </a:r>
          </a:p>
        </p:txBody>
      </p:sp>
    </p:spTree>
    <p:extLst>
      <p:ext uri="{BB962C8B-B14F-4D97-AF65-F5344CB8AC3E}">
        <p14:creationId xmlns:p14="http://schemas.microsoft.com/office/powerpoint/2010/main" val="520428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01E5-5EE0-77D4-122E-6505F916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C7BF7-41C8-8E5C-3955-5B5A1D50A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Reduce total parameters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Reduce active parameters</a:t>
            </a:r>
          </a:p>
        </p:txBody>
      </p:sp>
    </p:spTree>
    <p:extLst>
      <p:ext uri="{BB962C8B-B14F-4D97-AF65-F5344CB8AC3E}">
        <p14:creationId xmlns:p14="http://schemas.microsoft.com/office/powerpoint/2010/main" val="435937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98AA3-DFCD-479B-AEEF-1C57D2F79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A33D-6030-25D3-022E-E91DC5FDD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06B9E-2B37-ADB1-CA62-CA44639B6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 &amp; Challenges</a:t>
            </a:r>
          </a:p>
          <a:p>
            <a:endParaRPr lang="en-US" dirty="0"/>
          </a:p>
          <a:p>
            <a:r>
              <a:rPr lang="en-US" dirty="0"/>
              <a:t>A new Macro compress-train scheme</a:t>
            </a:r>
          </a:p>
          <a:p>
            <a:pPr lvl="1"/>
            <a:r>
              <a:rPr lang="en-US" dirty="0"/>
              <a:t>Nystrom approximation for MLP compression</a:t>
            </a:r>
          </a:p>
          <a:p>
            <a:pPr lvl="1"/>
            <a:r>
              <a:rPr lang="en-US" dirty="0"/>
              <a:t>PCA-based truncation for Wv Wo compression</a:t>
            </a:r>
          </a:p>
          <a:p>
            <a:pPr lvl="1"/>
            <a:r>
              <a:rPr lang="en-US" dirty="0"/>
              <a:t>Scale Nystrom and PCA-based truncation for 72B model</a:t>
            </a:r>
          </a:p>
          <a:p>
            <a:pPr lvl="1"/>
            <a:r>
              <a:rPr lang="en-US" dirty="0"/>
              <a:t>Width pruning</a:t>
            </a:r>
          </a:p>
          <a:p>
            <a:endParaRPr lang="en-US" dirty="0"/>
          </a:p>
          <a:p>
            <a:r>
              <a:rPr lang="en-US" dirty="0"/>
              <a:t>Stack / multi-stage compression</a:t>
            </a:r>
          </a:p>
        </p:txBody>
      </p:sp>
    </p:spTree>
    <p:extLst>
      <p:ext uri="{BB962C8B-B14F-4D97-AF65-F5344CB8AC3E}">
        <p14:creationId xmlns:p14="http://schemas.microsoft.com/office/powerpoint/2010/main" val="812872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UC Santa Barbara">
      <a:dk1>
        <a:srgbClr val="000000"/>
      </a:dk1>
      <a:lt1>
        <a:srgbClr val="FFFFFF"/>
      </a:lt1>
      <a:dk2>
        <a:srgbClr val="003660"/>
      </a:dk2>
      <a:lt2>
        <a:srgbClr val="FEBC11"/>
      </a:lt2>
      <a:accent1>
        <a:srgbClr val="04859B"/>
      </a:accent1>
      <a:accent2>
        <a:srgbClr val="798D38"/>
      </a:accent2>
      <a:accent3>
        <a:srgbClr val="0BA89A"/>
      </a:accent3>
      <a:accent4>
        <a:srgbClr val="EF5645"/>
      </a:accent4>
      <a:accent5>
        <a:srgbClr val="9CBEBE"/>
      </a:accent5>
      <a:accent6>
        <a:srgbClr val="DCD6CC"/>
      </a:accent6>
      <a:hlink>
        <a:srgbClr val="07518C"/>
      </a:hlink>
      <a:folHlink>
        <a:srgbClr val="A1AFBA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09ADCAB-1106-448B-8506-6DC99723CA3A}" vid="{7C4C72D9-C6E0-42E1-9B70-90A76AD680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UCSB_widescreen</Template>
  <TotalTime>101031</TotalTime>
  <Words>72</Words>
  <Application>Microsoft Macintosh PowerPoint</Application>
  <PresentationFormat>Widescreen</PresentationFormat>
  <Paragraphs>23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Century Gothic</vt:lpstr>
      <vt:lpstr>Times New Roman</vt:lpstr>
      <vt:lpstr>Office 主题​​</vt:lpstr>
      <vt:lpstr>PowerPoint Presentation</vt:lpstr>
      <vt:lpstr>PowerPoint Presentation</vt:lpstr>
      <vt:lpstr>Outline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业权</dc:creator>
  <cp:lastModifiedBy>Zhao, Yequan</cp:lastModifiedBy>
  <cp:revision>2992</cp:revision>
  <cp:lastPrinted>2025-09-15T19:26:59Z</cp:lastPrinted>
  <dcterms:created xsi:type="dcterms:W3CDTF">2022-12-11T07:19:35Z</dcterms:created>
  <dcterms:modified xsi:type="dcterms:W3CDTF">2026-08-06T02:14:01Z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2025-08-18T20:46:01Z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df79c180-0a45-4569-be9a-d8d6456d1f2a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