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Dense Model  vs  Mixture-of-Experts (MoE)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Two ways to build a transformer — MoE is why modern LLMs scale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intro_dense_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679" y="2029968"/>
            <a:ext cx="1004123" cy="1627897"/>
          </a:xfrm>
          <a:prstGeom prst="rect">
            <a:avLst/>
          </a:prstGeom>
        </p:spPr>
      </p:pic>
      <p:pic>
        <p:nvPicPr>
          <p:cNvPr id="10" name="Picture 9" descr="fig_intro_moe_b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8" y="2029968"/>
            <a:ext cx="953410" cy="2971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09061" y="1664208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E2A47"/>
                </a:solidFill>
                <a:latin typeface="Times New Roman"/>
                <a:cs typeface="Times New Roman"/>
              </a:rPr>
              <a:t>Dense Transformer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9274" y="1664208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E2A47"/>
                </a:solidFill>
                <a:latin typeface="Times New Roman"/>
                <a:cs typeface="Times New Roman"/>
              </a:rPr>
              <a:t>Mixture-of-Experts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15917" y="3218688"/>
            <a:ext cx="585216" cy="457200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917" y="3218688"/>
            <a:ext cx="585216" cy="4572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E2A47"/>
                </a:solidFill>
                <a:latin typeface="Times New Roman"/>
                <a:cs typeface="Times New Roman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32888"/>
            <a:ext cx="3087159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Every token flows</a:t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through the same</a:t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single FFN.</a:t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22A33"/>
                </a:solidFill>
                <a:latin typeface="Times New Roman"/>
                <a:cs typeface="Times New Roman"/>
              </a:rPr>
              <a:t/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C7293"/>
                </a:solidFill>
                <a:latin typeface="Times New Roman"/>
                <a:cs typeface="Times New Roman"/>
              </a:rPr>
              <a:t>100% of params</a:t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C7293"/>
                </a:solidFill>
                <a:latin typeface="Times New Roman"/>
                <a:cs typeface="Times New Roman"/>
              </a:rPr>
              <a:t>active per token.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0539" y="2532888"/>
            <a:ext cx="3112516" cy="2743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A router sends each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token to K of 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expert FFNs.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22A33"/>
                </a:solidFill>
                <a:latin typeface="Times New Roman"/>
                <a:cs typeface="Times New Roman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C7293"/>
                </a:solidFill>
                <a:latin typeface="Times New Roman"/>
                <a:cs typeface="Times New Roman"/>
              </a:rPr>
              <a:t>Many experts,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C7293"/>
                </a:solidFill>
                <a:latin typeface="Times New Roman"/>
                <a:cs typeface="Times New Roman"/>
              </a:rPr>
              <a:t>few fire per token.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48072"/>
            <a:ext cx="11094415" cy="8412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148072"/>
            <a:ext cx="128016" cy="84124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30368"/>
            <a:ext cx="10454335" cy="69494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0A32E"/>
                </a:solidFill>
                <a:latin typeface="Times New Roman"/>
                <a:cs typeface="Times New Roman"/>
              </a:rPr>
              <a:t>Dense: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  quality and cost both grow with parameter count — scaling gets expensive fast.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0A32E"/>
                </a:solidFill>
                <a:latin typeface="Times New Roman"/>
                <a:cs typeface="Times New Roman"/>
              </a:rPr>
              <a:t>MoE: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  quality scales with </a:t>
            </a:r>
            <a:r>
              <a:rPr sz="1600" b="1" i="1">
                <a:solidFill>
                  <a:srgbClr val="FFFFFF"/>
                </a:solidFill>
                <a:latin typeface="Times New Roman"/>
                <a:cs typeface="Times New Roman"/>
              </a:rPr>
              <a:t>total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 params, cost only with </a:t>
            </a:r>
            <a:r>
              <a:rPr sz="1600" b="1" i="1">
                <a:solidFill>
                  <a:srgbClr val="FFFFFF"/>
                </a:solidFill>
                <a:latin typeface="Times New Roman"/>
                <a:cs typeface="Times New Roman"/>
              </a:rPr>
              <a:t>active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 params — Qwen3-30B fires just 3B of 30B per token.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8175" y="6025896"/>
            <a:ext cx="4754880" cy="2011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1">
                <a:solidFill>
                  <a:srgbClr val="5C6B7A"/>
                </a:solidFill>
                <a:latin typeface="Times New Roman"/>
                <a:cs typeface="Times New Roman"/>
              </a:rPr>
              <a:t>Diagram: GShard (Lepikhin et al.), via the Hugging Face MoE guide.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The Challenge: Running MoE on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At decode, the bottleneck is memory bandwidth — not compute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intro_memory_hierar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984248"/>
            <a:ext cx="5761403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923" y="1682496"/>
            <a:ext cx="5150131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56032" marL="256032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  <a:buClr>
                <a:srgbClr val="E0A32E"/>
              </a:buClr>
              <a:buFont typeface="Times New Roman"/>
              <a:buChar char="▪"/>
            </a:pP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Decoding is one token at a time.</a:t>
            </a: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 Each token streams its experts from DRAM.</a:t>
            </a:r>
          </a:p>
          <a:p>
            <a:pPr indent="-256032" marL="256032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  <a:buClr>
                <a:srgbClr val="E0A32E"/>
              </a:buClr>
              <a:buFont typeface="Times New Roman"/>
              <a:buChar char="▪"/>
            </a:pPr>
            <a:r>
              <a:rPr sz="1500" b="1" i="0">
                <a:solidFill>
                  <a:srgbClr val="1C7293"/>
                </a:solidFill>
                <a:latin typeface="Times New Roman"/>
                <a:cs typeface="Times New Roman"/>
              </a:rPr>
              <a:t>Fetching weights dwarfs computing with them</a:t>
            </a: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 — the GPU idles waiting on memory.</a:t>
            </a:r>
          </a:p>
          <a:p>
            <a:pPr indent="-256032" marL="256032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  <a:buClr>
                <a:srgbClr val="E0A32E"/>
              </a:buClr>
              <a:buFont typeface="Times New Roman"/>
              <a:buChar char="▪"/>
            </a:pP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On edge (phone, L4, Cor3),</a:t>
            </a:r>
            <a:r>
              <a:rPr sz="1500" b="0" i="0">
                <a:solidFill>
                  <a:srgbClr val="222A33"/>
                </a:solidFill>
                <a:latin typeface="Times New Roman"/>
                <a:cs typeface="Times New Roman"/>
              </a:rPr>
              <a:t> DRAM is small and slow — both hurt.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923" y="3447288"/>
            <a:ext cx="5150131" cy="29260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→ Two ways to make MoE fit and run on edge: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923" y="3822191"/>
            <a:ext cx="5150131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923" y="3822191"/>
            <a:ext cx="109728" cy="84124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955" y="3904487"/>
            <a:ext cx="4766083" cy="70408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① Reduce </a:t>
            </a:r>
            <a:r>
              <a:rPr sz="1600" b="1" i="1">
                <a:solidFill>
                  <a:srgbClr val="1C7293"/>
                </a:solidFill>
                <a:latin typeface="Times New Roman"/>
                <a:cs typeface="Times New Roman"/>
              </a:rPr>
              <a:t>total</a:t>
            </a: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 parameters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Shrink the model so it fits in device DRAM.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Times New Roman"/>
                <a:cs typeface="Times New Roman"/>
              </a:rPr>
              <a:t>30B = 60 GB, but edge DRAM is only 8–24 GB.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923" y="4791455"/>
            <a:ext cx="5150131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923" y="4791455"/>
            <a:ext cx="109728" cy="84124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8955" y="4873751"/>
            <a:ext cx="4766083" cy="70408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② Reduce </a:t>
            </a:r>
            <a:r>
              <a:rPr sz="1600" b="1" i="1">
                <a:solidFill>
                  <a:srgbClr val="1C7293"/>
                </a:solidFill>
                <a:latin typeface="Times New Roman"/>
                <a:cs typeface="Times New Roman"/>
              </a:rPr>
              <a:t>active</a:t>
            </a: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 parameters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Move fewer bytes into the GPU each token.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Times New Roman"/>
                <a:cs typeface="Times New Roman"/>
              </a:rPr>
              <a:t>Fetch/read time scales with bytes → lower latency.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923" y="5687567"/>
            <a:ext cx="5150131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This work targets </a:t>
            </a:r>
            <a:r>
              <a:rPr sz="1300" b="1" i="0">
                <a:solidFill>
                  <a:srgbClr val="0E2A47"/>
                </a:solidFill>
                <a:latin typeface="Times New Roman"/>
                <a:cs typeface="Times New Roman"/>
              </a:rPr>
              <a:t>both</a:t>
            </a: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A Sparse Subset of Channels Suffices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Within one expert, a few channels carry almost all the output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sparse_suff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175" y="1755648"/>
            <a:ext cx="5427345" cy="3383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03520"/>
            <a:ext cx="11094415" cy="89611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128016" cy="89611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10454335" cy="73152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An expert's SwiGLU activations are long-tailed —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43% are ≈0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, and a thin large-magnitude tail dominates the 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Zeroing the smallest 80% of activations barely changes the result: most channels are idle for any given token.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…but the Subset is Token-Specific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Which channels matter is re-decided on every token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token_specif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422" y="1755648"/>
            <a:ext cx="4052850" cy="3383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03520"/>
            <a:ext cx="11094415" cy="89611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128016" cy="89611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10454335" cy="73152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Consecutive tokens routed to the same expert share only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33% of their kept channels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— barely above the 25% random baseline.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No fixed keep-set works, and even reusing the previous token's mask fails: the choice must be made per token.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Acting on It Holds Near-Dense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Per-token channel selection on the full dense Qwen3-30B-A3B — no fine-tuning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prune_sweep_mm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515" y="1792224"/>
            <a:ext cx="3996592" cy="2880360"/>
          </a:xfrm>
          <a:prstGeom prst="rect">
            <a:avLst/>
          </a:prstGeom>
        </p:spPr>
      </p:pic>
      <p:pic>
        <p:nvPicPr>
          <p:cNvPr id="10" name="Picture 9" descr="fig_prune_sweep_hellasw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7" y="1792224"/>
            <a:ext cx="3996592" cy="2880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303520"/>
            <a:ext cx="11094415" cy="89611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303520"/>
            <a:ext cx="128016" cy="89611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94960"/>
            <a:ext cx="10454335" cy="73152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Per-token selection stays within noise of dense out to a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70% cut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of the active intermediate dimension, on both MMLU and HellaSwag.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Accuracy bends only past 80% — a large active-parameter cut, essentially for free.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Online Selection Beats Offline, Decisively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The per-token selector stays near dense where static methods collapse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pic>
        <p:nvPicPr>
          <p:cNvPr id="9" name="Picture 8" descr="fig_offline_vs_on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4300" y="1755648"/>
            <a:ext cx="4923093" cy="3383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03520"/>
            <a:ext cx="11094415" cy="89611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128016" cy="89611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10454335" cy="73152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At equal budget, dropping experts or ranking channels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offline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falls apart as the cut deepens — toward chance by 7/8.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Per-token selection holds the dense line; the gap widens to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+33 pt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at the tightest budget — the information offline methods cannot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514600"/>
            <a:ext cx="1280160" cy="128016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852928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  <a:cs typeface="Times New Roman"/>
              </a:rPr>
              <a:t>Level 1 — Offline Static Channel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9D6E3"/>
                </a:solidFill>
                <a:latin typeface="Times New Roman"/>
                <a:cs typeface="Times New Roman"/>
              </a:rPr>
              <a:t>Can a fixed, precomputed channel order replace the online scorer?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The Target: a Fixed Ranking of Unique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If importance were token-independent, we could rank once and skip the online scorer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The online method pins </a:t>
            </a:r>
            <a:r>
              <a:rPr sz="1600" b="1" i="0">
                <a:solidFill>
                  <a:srgbClr val="1C7293"/>
                </a:solidFill>
                <a:latin typeface="Times New Roman"/>
                <a:cs typeface="Times New Roman"/>
              </a:rPr>
              <a:t>up_proj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at full width — it </a:t>
            </a:r>
            <a:r>
              <a:rPr sz="1600" b="0" i="1">
                <a:solidFill>
                  <a:srgbClr val="222A33"/>
                </a:solidFill>
                <a:latin typeface="Times New Roman"/>
                <a:cs typeface="Times New Roman"/>
              </a:rPr>
              <a:t>is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the scorer. Offline question: precompute a fixed per-expert channel order so inference just keeps the top-B, with </a:t>
            </a: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no full-width computation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5410047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109728" cy="117043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651760"/>
            <a:ext cx="5025999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0A32E"/>
                </a:solidFill>
                <a:latin typeface="Times New Roman"/>
                <a:cs typeface="Times New Roman"/>
              </a:rPr>
              <a:t>①  </a:t>
            </a: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Redundancy-aware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Don't double-spend budget on duplicate channels.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560320"/>
            <a:ext cx="5410047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560320"/>
            <a:ext cx="109728" cy="117043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2651760"/>
            <a:ext cx="5025999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0A32E"/>
                </a:solidFill>
                <a:latin typeface="Times New Roman"/>
                <a:cs typeface="Times New Roman"/>
              </a:rPr>
              <a:t>②  </a:t>
            </a: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Nested order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Every prefix must be good — the budget varies per token.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77056"/>
            <a:ext cx="5410047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77056"/>
            <a:ext cx="109728" cy="117043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968496"/>
            <a:ext cx="5025999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0A32E"/>
                </a:solidFill>
                <a:latin typeface="Times New Roman"/>
                <a:cs typeface="Times New Roman"/>
              </a:rPr>
              <a:t>③  </a:t>
            </a: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Cross-expert comparable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One global threshold; per-expert quotas emerge on their own.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3877056"/>
            <a:ext cx="5410047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3877056"/>
            <a:ext cx="109728" cy="117043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0751" y="3968496"/>
            <a:ext cx="5025999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0A32E"/>
                </a:solidFill>
                <a:latin typeface="Times New Roman"/>
                <a:cs typeface="Times New Roman"/>
              </a:rPr>
              <a:t>④  </a:t>
            </a: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Reweightable by router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The only free online signal is the gate weight g_e(x).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93792"/>
            <a:ext cx="11094415" cy="71323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193792"/>
            <a:ext cx="128016" cy="713232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285231"/>
            <a:ext cx="10454335" cy="5486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E0A32E"/>
                </a:solidFill>
                <a:latin typeface="Times New Roman"/>
                <a:cs typeface="Times New Roman"/>
              </a:rPr>
              <a:t>Payoff if it worked: 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all three matrices narrow, “keep top-B” is a contiguous prefix slice, and the online cost is ≈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Pivoted-Cholesky: Greedy, Conditional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Pick the most important channel, then subtract what it already explains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56032" marL="256032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Build a per-expert </a:t>
            </a: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coupling matrix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(activation covariance ⊙ weight Gram), then run pivoted Cholesky: greedily select the largest-residual channel and </a:t>
            </a:r>
            <a:r>
              <a:rPr sz="1600" b="1" i="0">
                <a:solidFill>
                  <a:srgbClr val="1C7293"/>
                </a:solidFill>
                <a:latin typeface="Times New Roman"/>
                <a:cs typeface="Times New Roman"/>
              </a:rPr>
              <a:t>downdate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every remaining channel by what the chosen one explains.</a:t>
            </a:r>
          </a:p>
          <a:p>
            <a:pPr indent="-256032" marL="256032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Duplicates collapse to ≈ 0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— a channel already explained is never picked again.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81528"/>
            <a:ext cx="11094415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81528"/>
            <a:ext cx="128016" cy="78638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72968"/>
            <a:ext cx="10545775" cy="60350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0E2A47"/>
                </a:solidFill>
                <a:latin typeface="Consolas"/>
                <a:cs typeface="Consolas"/>
              </a:rPr>
              <a:t>Online score:   g²(x) · σ</a:t>
            </a:r>
            <a:r>
              <a:rPr sz="1300" b="1" i="0">
                <a:solidFill>
                  <a:srgbClr val="0E2A47"/>
                </a:solidFill>
                <a:latin typeface="Consolas"/>
                <a:cs typeface="Consolas"/>
              </a:rPr>
              <a:t>e,r</a:t>
            </a:r>
            <a:r>
              <a:rPr sz="1900" b="1" i="0">
                <a:solidFill>
                  <a:srgbClr val="0E2A47"/>
                </a:solidFill>
                <a:latin typeface="Consolas"/>
                <a:cs typeface="Consolas"/>
              </a:rPr>
              <a:t>        keep global top-B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C6B7A"/>
                </a:solidFill>
                <a:latin typeface="Consolas"/>
                <a:cs typeface="Consolas"/>
              </a:rPr>
              <a:t>router weight  ×  precomputed marginal gain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14216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56032" marL="256032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Pivot order is </a:t>
            </a: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nested and monotone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→ a single global threshold cuts a clean prefix.</a:t>
            </a:r>
          </a:p>
          <a:p>
            <a:pPr indent="-256032" marL="256032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Budget-agnostic: stored once (~57 MB), no weight modified.</a:t>
            </a:r>
          </a:p>
          <a:p>
            <a:pPr indent="-256032" marL="256032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Overhead ≈ </a:t>
            </a:r>
            <a:r>
              <a:rPr sz="1600" b="1" i="0">
                <a:solidFill>
                  <a:srgbClr val="1C7293"/>
                </a:solidFill>
                <a:latin typeface="Times New Roman"/>
                <a:cs typeface="Times New Roman"/>
              </a:rPr>
              <a:t>0.016%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of expert-FFN MACs.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04688"/>
            <a:ext cx="11094415" cy="731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04688"/>
            <a:ext cx="128016" cy="731520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596128"/>
            <a:ext cx="10454335" cy="566928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Every requirement met by construction — a redundancy-aware, nested, cross-expert-comparable, router-reweightable ranking.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Results: Best Offline Ranking, Still Beaten Online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Pivoted-Cholesky tops the offline bracket — yet trails per-token selection by 4–33 pt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82496"/>
          <a:ext cx="5532120" cy="22128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1024128"/>
                <a:gridCol w="1078992"/>
                <a:gridCol w="1188720"/>
                <a:gridCol w="10515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Active cut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Top-k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MoSE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Piv-Chol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Online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Dense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78.56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−50%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75.2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69.45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74.26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78.54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−62.5%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69.8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61.00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70.54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78.76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−75%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49.4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43.66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63.60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78.28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−87.5%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26.2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30.32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44.15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76.84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931920"/>
            <a:ext cx="55321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5C6B7A"/>
                </a:solidFill>
                <a:latin typeface="Times New Roman"/>
                <a:cs typeface="Times New Roman"/>
              </a:rPr>
              <a:t>Top-k = drop experts 8→k;  Piv-Chol / MoSE = fixed offline rankings;  Online = per-token.  HellaSwag acc_norm, no fine-tuning.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15968"/>
            <a:ext cx="5532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56032" marL="256032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  <a:buClr>
                <a:srgbClr val="E0A32E"/>
              </a:buClr>
              <a:buFont typeface="Times New Roman"/>
              <a:buChar char="▪"/>
            </a:pPr>
            <a:r>
              <a:rPr sz="1300" b="1" i="0">
                <a:solidFill>
                  <a:srgbClr val="0E2A47"/>
                </a:solidFill>
                <a:latin typeface="Times New Roman"/>
                <a:cs typeface="Times New Roman"/>
              </a:rPr>
              <a:t>Pivoted-Cholesky dominates the offline bracket </a:t>
            </a: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(+5 to +20 pt over MoSE).</a:t>
            </a:r>
          </a:p>
          <a:p>
            <a:pPr indent="-256032" marL="256032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  <a:buClr>
                <a:srgbClr val="E0A32E"/>
              </a:buClr>
              <a:buFont typeface="Times New Roman"/>
              <a:buChar char="▪"/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But the whole offline family caps out — trails online by </a:t>
            </a:r>
            <a:r>
              <a:rPr sz="1300" b="1" i="0">
                <a:solidFill>
                  <a:srgbClr val="B43232"/>
                </a:solidFill>
                <a:latin typeface="Times New Roman"/>
                <a:cs typeface="Times New Roman"/>
              </a:rPr>
              <a:t>4 / 15 / 33 pt</a:t>
            </a: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.</a:t>
            </a:r>
          </a:p>
          <a:p>
            <a:pPr indent="-256032" marL="256032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  <a:buClr>
                <a:srgbClr val="E0A32E"/>
              </a:buClr>
              <a:buFont typeface="Times New Roman"/>
              <a:buChar char="▪"/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Cross-expert offline coupling buys nothing (&lt;2% selection change).</a:t>
            </a:r>
          </a:p>
          <a:p>
            <a:pPr indent="-256032" marL="256032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  <a:buClr>
                <a:srgbClr val="E0A32E"/>
              </a:buClr>
              <a:buFont typeface="Times New Roman"/>
              <a:buChar char="▪"/>
            </a:pP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The headroom is </a:t>
            </a:r>
            <a:r>
              <a:rPr sz="1300" b="1" i="0">
                <a:solidFill>
                  <a:srgbClr val="0E2A47"/>
                </a:solidFill>
                <a:latin typeface="Times New Roman"/>
                <a:cs typeface="Times New Roman"/>
              </a:rPr>
              <a:t>per-token activation information</a:t>
            </a:r>
            <a:r>
              <a:rPr sz="1300" b="0" i="0">
                <a:solidFill>
                  <a:srgbClr val="222A33"/>
                </a:solidFill>
                <a:latin typeface="Times New Roman"/>
                <a:cs typeface="Times New Roman"/>
              </a:rPr>
              <a:t> no fixed ranking can capture.</a:t>
            </a:r>
          </a:p>
        </p:txBody>
      </p:sp>
      <p:pic>
        <p:nvPicPr>
          <p:cNvPr id="12" name="Picture 11" descr="fig_offline_vs_on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79" y="1755648"/>
            <a:ext cx="5287975" cy="36340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79" y="5444548"/>
            <a:ext cx="528797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E2A47"/>
                </a:solidFill>
                <a:latin typeface="Times New Roman"/>
                <a:cs typeface="Times New Roman"/>
              </a:rPr>
              <a:t>→ The deployable method must score online.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514600"/>
            <a:ext cx="1280160" cy="128016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852928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  <a:cs typeface="Times New Roman"/>
              </a:rPr>
              <a:t>Bonus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9D6E3"/>
                </a:solidFill>
                <a:latin typeface="Times New Roman"/>
                <a:cs typeface="Times New Roman"/>
              </a:rPr>
              <a:t>Online selection composes, a threshold beats top-B, and where the cloud win really is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Online Selection Stacks on a Compressed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On a 33%-Nyström + KD-healed base, per-token selection degrades like the dense model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706727" y="1892808"/>
          <a:ext cx="8778239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1600200"/>
                <a:gridCol w="1874519"/>
                <a:gridCol w="1325880"/>
                <a:gridCol w="1691640"/>
                <a:gridCol w="1051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nominal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online cut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wikitext ppl ↓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mmlu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hellaswag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gsm8k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base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10.11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0.817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50%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−32.6%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10.30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0.763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0.795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0.820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−45.7%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10.96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−52.2%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11.90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0.733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0.767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0.748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303520"/>
            <a:ext cx="11094415" cy="93268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128016" cy="93268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10454335" cy="768096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Cumulative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~68% reduction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of the original expert weights at 80% nominal — for only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+1.79 ppl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The two axes — offline weight compression + online channel selection — stack independently.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A Fixed Per-Layer Threshold Beats Top-B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A per-layer score threshold beats pooled top-B on every metric at matched budget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A threshold </a:t>
            </a:r>
            <a:r>
              <a:rPr sz="1600" b="1" i="0">
                <a:solidFill>
                  <a:srgbClr val="0E2A47"/>
                </a:solidFill>
                <a:latin typeface="Consolas"/>
                <a:cs typeface="Consolas"/>
              </a:rPr>
              <a:t>keep iff score ≥ τ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is </a:t>
            </a:r>
            <a:r>
              <a:rPr sz="1600" b="1" i="0">
                <a:solidFill>
                  <a:srgbClr val="1C7293"/>
                </a:solidFill>
                <a:latin typeface="Times New Roman"/>
                <a:cs typeface="Times New Roman"/>
              </a:rPr>
              <a:t>elementwise</a:t>
            </a:r>
            <a:r>
              <a:rPr sz="1600" b="0" i="0">
                <a:solidFill>
                  <a:srgbClr val="222A33"/>
                </a:solidFill>
                <a:latin typeface="Times New Roman"/>
                <a:cs typeface="Times New Roman"/>
              </a:rPr>
              <a:t> — each channel decided independently, no cross-expert sync. Budget floats per token: hot tokens keep more, quiet tokens fewer.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49527" y="2624328"/>
          <a:ext cx="9692640" cy="1883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1325880"/>
                <a:gridCol w="1417320"/>
                <a:gridCol w="173736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selection rule (80% nominal, matched budget)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ppl ↓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mmlu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hellaswag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winogrande ↑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online top-B (B=1229)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12.65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0.671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fixed per-layer threshold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12.32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0.785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0.762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0.691</a:t>
                      </a:r>
                    </a:p>
                  </a:txBody>
                  <a:tcPr marL="54864" marR="54864" marT="9144" marB="9144" anchor="ctr">
                    <a:solidFill>
                      <a:srgbClr val="FCF3D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threshold + FloE predictor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12.98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0.690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303520"/>
            <a:ext cx="11094415" cy="93268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303520"/>
            <a:ext cx="128016" cy="93268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94960"/>
            <a:ext cx="10454335" cy="768096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Threshold wins by </a:t>
            </a:r>
            <a:r>
              <a:rPr sz="1700" b="1" i="0">
                <a:solidFill>
                  <a:srgbClr val="E0A32E"/>
                </a:solidFill>
                <a:latin typeface="Times New Roman"/>
                <a:cs typeface="Times New Roman"/>
              </a:rPr>
              <a:t>reallocating budget across tokens</a:t>
            </a: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 — variable spend &gt; fixed spend.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Times New Roman"/>
                <a:cs typeface="Times New Roman"/>
              </a:rPr>
              <a:t>It does not compose with predict-ahead: a stale signal moves both the count and the choice.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"/>
            <a:ext cx="128016" cy="56692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59" y="201168"/>
            <a:ext cx="10820095" cy="78638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E2A47"/>
                </a:solidFill>
                <a:latin typeface="Times New Roman"/>
                <a:cs typeface="Times New Roman"/>
              </a:rPr>
              <a:t>Cloud Decode: Dynamic Selection Is the Wrong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C7293"/>
                </a:solidFill>
                <a:latin typeface="Times New Roman"/>
                <a:cs typeface="Times New Roman"/>
              </a:rPr>
              <a:t>On resident GPUs, dynamic selection hurts throughput — tensor parallelism is the win</a:t>
            </a:r>
          </a:p>
        </p:txBody>
      </p:sp>
      <p:pic>
        <p:nvPicPr>
          <p:cNvPr id="5" name="Picture 4" descr="amazo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6309360"/>
            <a:ext cx="1463040" cy="4407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40135" y="6400800"/>
            <a:ext cx="109728" cy="237744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6858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7A"/>
                </a:solidFill>
                <a:latin typeface="Times New Roman"/>
                <a:cs typeface="Times New Roman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382512"/>
            <a:ext cx="8229600" cy="32004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C6B7A"/>
                </a:solidFill>
                <a:latin typeface="Times New Roman"/>
                <a:cs typeface="Times New Roman"/>
              </a:rPr>
              <a:t>Per-Token Adaptive Channel Activation for MoE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09928"/>
          <a:ext cx="539496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1554480"/>
                <a:gridCol w="1691640"/>
                <a:gridCol w="5943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Parallelism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Dense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Dynamic</a:t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0E2A4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FSDP2 (dp)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base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0.83–0.88×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↓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TP = 2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~2.2× base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0.77× dense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↓</a:t>
                      </a:r>
                    </a:p>
                  </a:txBody>
                  <a:tcPr marL="54864" marR="54864" marT="9144" marB="9144" anchor="ctr">
                    <a:solidFill>
                      <a:srgbClr val="EAEF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TP =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~2.4× base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0.65× dense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Times New Roman"/>
                          <a:cs typeface="Times New Roman"/>
                        </a:rPr>
                        <a:t>↓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584448"/>
            <a:ext cx="539496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5C6B7A"/>
                </a:solidFill>
                <a:latin typeface="Times New Roman"/>
                <a:cs typeface="Times New Roman"/>
              </a:rPr>
              <a:t>Throughput vs. the dense baseline for the same layout (tok/s).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5379415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2A47"/>
                </a:solidFill>
                <a:latin typeface="Times New Roman"/>
                <a:cs typeface="Times New Roman"/>
              </a:rPr>
              <a:t>Why it hurts instead of helps: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53794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56032" marL="256032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350" b="1" i="0">
                <a:solidFill>
                  <a:srgbClr val="1C7293"/>
                </a:solidFill>
                <a:latin typeface="Times New Roman"/>
                <a:cs typeface="Times New Roman"/>
              </a:rPr>
              <a:t>FSDP2: </a:t>
            </a:r>
            <a:r>
              <a:rPr sz="1350" b="0" i="0">
                <a:solidFill>
                  <a:srgbClr val="222A33"/>
                </a:solidFill>
                <a:latin typeface="Times New Roman"/>
                <a:cs typeface="Times New Roman"/>
              </a:rPr>
              <a:t>the all-gather of each block's sharded weights (~83% of GPU-busy time) is independent of per-token budget.</a:t>
            </a:r>
          </a:p>
          <a:p>
            <a:pPr indent="-256032" marL="256032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350" b="1" i="0">
                <a:solidFill>
                  <a:srgbClr val="1C7293"/>
                </a:solidFill>
                <a:latin typeface="Times New Roman"/>
                <a:cs typeface="Times New Roman"/>
              </a:rPr>
              <a:t>TP: </a:t>
            </a:r>
            <a:r>
              <a:rPr sz="1350" b="0" i="0">
                <a:solidFill>
                  <a:srgbClr val="222A33"/>
                </a:solidFill>
                <a:latin typeface="Times New Roman"/>
                <a:cs typeface="Times New Roman"/>
              </a:rPr>
              <a:t>the weight read is already split tp-ways to a tiny slice (18.9 MB/rank at tp=4) — nothing left worth cutting.</a:t>
            </a:r>
          </a:p>
          <a:p>
            <a:pPr indent="-256032" marL="256032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  <a:buClr>
                <a:srgbClr val="E0A32E"/>
              </a:buClr>
              <a:buFont typeface="Times New Roman"/>
              <a:buChar char="▪"/>
            </a:pPr>
            <a:r>
              <a:rPr sz="1350" b="1" i="0">
                <a:solidFill>
                  <a:srgbClr val="B43232"/>
                </a:solidFill>
                <a:latin typeface="Times New Roman"/>
                <a:cs typeface="Times New Roman"/>
              </a:rPr>
              <a:t>Fixed overhead added: </a:t>
            </a:r>
            <a:r>
              <a:rPr sz="1350" b="0" i="0">
                <a:solidFill>
                  <a:srgbClr val="222A33"/>
                </a:solidFill>
                <a:latin typeface="Times New Roman"/>
                <a:cs typeface="Times New Roman"/>
              </a:rPr>
              <a:t>~0.17 ms/token top-k + gather/scatter, plus ~0.1 ms all-reduce over H under TP.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03520"/>
            <a:ext cx="11094415" cy="93268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28016" cy="932688"/>
          </a:xfrm>
          <a:prstGeom prst="rect">
            <a:avLst/>
          </a:prstGeom>
          <a:solidFill>
            <a:srgbClr val="E0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394960"/>
            <a:ext cx="10454335" cy="768096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Cloud throughput levers are </a:t>
            </a:r>
            <a:r>
              <a:rPr sz="1600" b="1" i="0">
                <a:solidFill>
                  <a:srgbClr val="E0A32E"/>
                </a:solidFill>
                <a:latin typeface="Times New Roman"/>
                <a:cs typeface="Times New Roman"/>
              </a:rPr>
              <a:t>collectives + batch/parallelism layout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, not activated-parameter count.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The dynamic method's cloud payoff is </a:t>
            </a:r>
            <a:r>
              <a:rPr sz="1600" b="1" i="0">
                <a:solidFill>
                  <a:srgbClr val="E0A32E"/>
                </a:solidFill>
                <a:latin typeface="Times New Roman"/>
                <a:cs typeface="Times New Roman"/>
              </a:rPr>
              <a:t>activation memory, not tokens/s</a:t>
            </a:r>
            <a:r>
              <a:rPr sz="1600" b="0" i="0">
                <a:solidFill>
                  <a:srgbClr val="FFFFFF"/>
                </a:solidFill>
                <a:latin typeface="Times New Roman"/>
                <a:cs typeface="Times New Roman"/>
              </a:rPr>
              <a:t> — it targets edge, not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