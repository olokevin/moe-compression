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Dense Model  vs  Mixture-of-Experts (MoE)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Two ways to build a transformer — MoE is why modern LLMs scale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pic>
        <p:nvPicPr>
          <p:cNvPr id="9" name="Picture 8" descr="fig_intro_dense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679" y="2029968"/>
            <a:ext cx="1004123" cy="1627897"/>
          </a:xfrm>
          <a:prstGeom prst="rect">
            <a:avLst/>
          </a:prstGeom>
        </p:spPr>
      </p:pic>
      <p:pic>
        <p:nvPicPr>
          <p:cNvPr id="10" name="Picture 9" descr="fig_intro_moe_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48" y="2029968"/>
            <a:ext cx="953410" cy="2971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09061" y="1664208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E2A47"/>
                </a:solidFill>
                <a:latin typeface="Times New Roman"/>
                <a:cs typeface="Times New Roman"/>
              </a:rPr>
              <a:t>Dense 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9274" y="1664208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E2A47"/>
                </a:solidFill>
                <a:latin typeface="Times New Roman"/>
                <a:cs typeface="Times New Roman"/>
              </a:rPr>
              <a:t>Mixture-of-Experts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5917" y="3218688"/>
            <a:ext cx="585216" cy="457200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5917" y="3218688"/>
            <a:ext cx="585216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A47"/>
                </a:solidFill>
                <a:latin typeface="Times New Roman"/>
                <a:cs typeface="Times New Roman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3087159" cy="23774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Every token flows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through the same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single FFN.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22A33"/>
                </a:solidFill>
                <a:latin typeface="Times New Roman"/>
                <a:cs typeface="Times New Roman"/>
              </a:rPr>
              <a:t/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C7293"/>
                </a:solidFill>
                <a:latin typeface="Times New Roman"/>
                <a:cs typeface="Times New Roman"/>
              </a:rPr>
              <a:t>100% of params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C7293"/>
                </a:solidFill>
                <a:latin typeface="Times New Roman"/>
                <a:cs typeface="Times New Roman"/>
              </a:rPr>
              <a:t>active per token.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0539" y="2532888"/>
            <a:ext cx="3112516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A router sends each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token to K of 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expert FFNs.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22A33"/>
                </a:solidFill>
                <a:latin typeface="Times New Roman"/>
                <a:cs typeface="Times New Roman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C7293"/>
                </a:solidFill>
                <a:latin typeface="Times New Roman"/>
                <a:cs typeface="Times New Roman"/>
              </a:rPr>
              <a:t>Many experts,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C7293"/>
                </a:solidFill>
                <a:latin typeface="Times New Roman"/>
                <a:cs typeface="Times New Roman"/>
              </a:rPr>
              <a:t>few fire per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48072"/>
            <a:ext cx="11094415" cy="8412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148072"/>
            <a:ext cx="128016" cy="84124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30368"/>
            <a:ext cx="10454335" cy="6949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0A32E"/>
                </a:solidFill>
                <a:latin typeface="Times New Roman"/>
                <a:cs typeface="Times New Roman"/>
              </a:rPr>
              <a:t>Dense:</a:t>
            </a:r>
            <a:r>
              <a:rPr sz="1600" b="0" i="0">
                <a:solidFill>
                  <a:srgbClr val="FFFFFF"/>
                </a:solidFill>
                <a:latin typeface="Times New Roman"/>
                <a:cs typeface="Times New Roman"/>
              </a:rPr>
              <a:t>  quality and cost both grow with parameter count — scaling gets expensive fast.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0A32E"/>
                </a:solidFill>
                <a:latin typeface="Times New Roman"/>
                <a:cs typeface="Times New Roman"/>
              </a:rPr>
              <a:t>MoE:</a:t>
            </a:r>
            <a:r>
              <a:rPr sz="1600" b="0" i="0">
                <a:solidFill>
                  <a:srgbClr val="FFFFFF"/>
                </a:solidFill>
                <a:latin typeface="Times New Roman"/>
                <a:cs typeface="Times New Roman"/>
              </a:rPr>
              <a:t>  quality scales with </a:t>
            </a:r>
            <a:r>
              <a:rPr sz="1600" b="1" i="1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600" b="0" i="0">
                <a:solidFill>
                  <a:srgbClr val="FFFFFF"/>
                </a:solidFill>
                <a:latin typeface="Times New Roman"/>
                <a:cs typeface="Times New Roman"/>
              </a:rPr>
              <a:t> params, cost only with </a:t>
            </a:r>
            <a:r>
              <a:rPr sz="1600" b="1" i="1">
                <a:solidFill>
                  <a:srgbClr val="FFFFFF"/>
                </a:solidFill>
                <a:latin typeface="Times New Roman"/>
                <a:cs typeface="Times New Roman"/>
              </a:rPr>
              <a:t>active</a:t>
            </a:r>
            <a:r>
              <a:rPr sz="1600" b="0" i="0">
                <a:solidFill>
                  <a:srgbClr val="FFFFFF"/>
                </a:solidFill>
                <a:latin typeface="Times New Roman"/>
                <a:cs typeface="Times New Roman"/>
              </a:rPr>
              <a:t> params — Qwen3-30B fires just 3B of 30B per token.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8175" y="6025896"/>
            <a:ext cx="4754880" cy="2011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C6B7A"/>
                </a:solidFill>
                <a:latin typeface="Times New Roman"/>
                <a:cs typeface="Times New Roman"/>
              </a:rPr>
              <a:t>Diagram: GShard (Lepikhin et al.), via the Hugging Face MoE guide.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The Challenge: Running MoE on Edge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At decode, the bottleneck is memory bandwidth — not compute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pic>
        <p:nvPicPr>
          <p:cNvPr id="9" name="Picture 8" descr="fig_intro_memory_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682496"/>
            <a:ext cx="5815738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47258" y="1682496"/>
            <a:ext cx="5095796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56032" marL="256032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1" i="0">
                <a:solidFill>
                  <a:srgbClr val="0E2A47"/>
                </a:solidFill>
                <a:latin typeface="Times New Roman"/>
                <a:cs typeface="Times New Roman"/>
              </a:rPr>
              <a:t>Decoding is one token at a time.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 Each token streams its experts from DRAM.</a:t>
            </a:r>
          </a:p>
          <a:p>
            <a:pPr indent="-256032" marL="256032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1" i="0">
                <a:solidFill>
                  <a:srgbClr val="1C7293"/>
                </a:solidFill>
                <a:latin typeface="Times New Roman"/>
                <a:cs typeface="Times New Roman"/>
              </a:rPr>
              <a:t>Fetching weights dwarfs computing with them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 — the GPU idles waiting on memory.</a:t>
            </a:r>
          </a:p>
          <a:p>
            <a:pPr indent="-256032" marL="256032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1" i="0">
                <a:solidFill>
                  <a:srgbClr val="0E2A47"/>
                </a:solidFill>
                <a:latin typeface="Times New Roman"/>
                <a:cs typeface="Times New Roman"/>
              </a:rPr>
              <a:t>On edge (phone, L4, Cor3),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 DRAM is small and slow — both hurt.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258" y="3447288"/>
            <a:ext cx="5095796" cy="29260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→ Two ways to make MoE fit and run on edge: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258" y="3822191"/>
            <a:ext cx="509579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47258" y="3822191"/>
            <a:ext cx="109728" cy="84124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3290" y="3904487"/>
            <a:ext cx="4711748" cy="7040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① Reduce </a:t>
            </a:r>
            <a:r>
              <a:rPr sz="1600" b="1" i="1">
                <a:solidFill>
                  <a:srgbClr val="1C7293"/>
                </a:solidFill>
                <a:latin typeface="Times New Roman"/>
                <a:cs typeface="Times New Roman"/>
              </a:rPr>
              <a:t>total</a:t>
            </a: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 parameters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Times New Roman"/>
                <a:cs typeface="Times New Roman"/>
              </a:rPr>
              <a:t>Shrink the model so it fits in device DRAM.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  <a:cs typeface="Times New Roman"/>
              </a:rPr>
              <a:t>30B = 60 GB, but edge DRAM is only 8–24 GB.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258" y="4791455"/>
            <a:ext cx="509579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7258" y="4791455"/>
            <a:ext cx="109728" cy="84124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290" y="4873751"/>
            <a:ext cx="4711748" cy="7040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② Reduce </a:t>
            </a:r>
            <a:r>
              <a:rPr sz="1600" b="1" i="1">
                <a:solidFill>
                  <a:srgbClr val="1C7293"/>
                </a:solidFill>
                <a:latin typeface="Times New Roman"/>
                <a:cs typeface="Times New Roman"/>
              </a:rPr>
              <a:t>active</a:t>
            </a: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 parameters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2A33"/>
                </a:solidFill>
                <a:latin typeface="Times New Roman"/>
                <a:cs typeface="Times New Roman"/>
              </a:rPr>
              <a:t>Load fewer bytes DRAM→SRAM each token.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  <a:cs typeface="Times New Roman"/>
              </a:rPr>
              <a:t>Less bandwidth + less compute = lower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258" y="5687567"/>
            <a:ext cx="50957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2A33"/>
                </a:solidFill>
                <a:latin typeface="Times New Roman"/>
                <a:cs typeface="Times New Roman"/>
              </a:rPr>
              <a:t>This work targets </a:t>
            </a:r>
            <a:r>
              <a:rPr sz="1300" b="1" i="0">
                <a:solidFill>
                  <a:srgbClr val="0E2A47"/>
                </a:solidFill>
                <a:latin typeface="Times New Roman"/>
                <a:cs typeface="Times New Roman"/>
              </a:rPr>
              <a:t>both</a:t>
            </a:r>
            <a:r>
              <a:rPr sz="1300" b="0" i="0">
                <a:solidFill>
                  <a:srgbClr val="222A33"/>
                </a:solidFill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